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1.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97e2a635-4949-120c-9387-4569be9e7374}">
          <p14:sldIdLst>
            <p14:sldId id="256"/>
            <p14:sldId id="257"/>
          </p14:sldIdLst>
        </p14:section>
        <p14:section name="Solution" id="{46eb404c-a39d-8561-56fa-4fa9741fd8c4}">
          <p14:sldIdLst>
            <p14:sldId id="258"/>
            <p14:sldId id="259"/>
            <p14:sldId id="260"/>
            <p14:sldId id="261"/>
          </p14:sldIdLst>
        </p14:section>
        <p14:section name="Why it works" id="{6ae7f416-571e-7320-1b30-992d88bed651}">
          <p14:sldIdLst>
            <p14:sldId id="262"/>
            <p14:sldId id="263"/>
            <p14:sldId id="264"/>
            <p14:sldId id="265"/>
          </p14:sldIdLst>
        </p14:section>
        <p14:section name="Outlook" id="{1f4c6cc9-12f5-f264-0338-2288d9cca388}">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4212B"/>
                </a:solidFill>
                <a:latin typeface="+mn-lt"/>
              </a:defRPr>
            </a:pPr>
            <a:r>
              <a:rPr sz="1400" b="0" i="0" u="none" strike="noStrike">
                <a:solidFill>
                  <a:srgbClr val="14212B"/>
                </a:solidFill>
                <a:latin typeface="+mn-lt"/>
              </a:rPr>
              <a:t>PMKVY 2.0 short-term training: placement rate (%)</a:t>
            </a:r>
          </a:p>
        </c:rich>
      </c:tx>
      <c:layout/>
      <c:overlay val="0"/>
    </c:title>
    <c:autoTitleDeleted val="0"/>
    <c:plotArea>
      <c:layout/>
      <c:barChart>
        <c:barDir val="col"/>
        <c:grouping val="clustered"/>
        <c:varyColors val="0"/>
        <c:ser>
          <c:idx val="0"/>
          <c:order val="0"/>
          <c:tx>
            <c:strRef>
              <c:f>Sheet1!$B$1</c:f>
              <c:strCache>
                <c:ptCount val="1"/>
                <c:pt idx="0">
                  <c:v>Placement rate (%)</c:v>
                </c:pt>
              </c:strCache>
            </c:strRef>
          </c:tx>
          <c:spPr>
            <a:solidFill>
              <a:srgbClr val="0E7C86"/>
            </a:solidFill>
            <a:effectLst/>
          </c:spPr>
          <c:invertIfNegative val="0"/>
          <c:dLbls>
            <c:numFmt formatCode="0.0&quot;%&quot;" sourceLinked="0"/>
            <c:txPr>
              <a:bodyPr/>
              <a:lstStyle/>
              <a:p>
                <a:pPr>
                  <a:defRPr b="0" i="0" strike="noStrike" sz="1400" u="none">
                    <a:solidFill>
                      <a:srgbClr val="14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Age 14-18</c:v>
                  </c:pt>
                  <c:pt idx="1">
                    <c:v>Age 19-25</c:v>
                  </c:pt>
                  <c:pt idx="2">
                    <c:v>All trainees</c:v>
                  </c:pt>
                </c:lvl>
              </c:multiLvlStrCache>
            </c:multiLvlStrRef>
          </c:cat>
          <c:val>
            <c:numRef>
              <c:f>Sheet1!$B$2:$B$4</c:f>
              <c:numCache>
                <c:formatCode>General</c:formatCode>
                <c:ptCount val="3"/>
                <c:pt idx="0">
                  <c:v>33</c:v>
                </c:pt>
                <c:pt idx="1">
                  <c:v>44.8</c:v>
                </c:pt>
                <c:pt idx="2">
                  <c:v>45.6</c:v>
                </c:pt>
              </c:numCache>
            </c:numRef>
          </c:val>
        </c:ser>
        <c:dLbls>
          <c:numFmt formatCode="0.0&quot;%&quot;" sourceLinked="0"/>
          <c:txPr>
            <a:bodyPr/>
            <a:lstStyle/>
            <a:p>
              <a:pPr>
                <a:defRPr b="0" i="0" strike="noStrike" sz="1400" u="none">
                  <a:solidFill>
                    <a:srgbClr val="14212B"/>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A4A55"/>
                </a:solidFill>
                <a:latin typeface="+mn-lt"/>
              </a:defRPr>
            </a:pPr>
            <a:endParaRPr lang="en-US"/>
          </a:p>
        </c:txPr>
        <c:crossAx val="2094734552"/>
        <c:crosses val="autoZero"/>
        <c:auto val="1"/>
        <c:lblAlgn val="ctr"/>
        <c:noMultiLvlLbl val="1"/>
      </c:catAx>
      <c:valAx>
        <c:axId val="2094734552"/>
        <c:scaling>
          <c:orientation val="minMax"/>
          <c:max val="60"/>
          <c:min val="0"/>
        </c:scaling>
        <c:delete val="1"/>
        <c:axPos val="l"/>
        <c:majorGridlines>
          <c:spPr>
            <a:ln w="6350" cap="flat">
              <a:solidFill>
                <a:srgbClr val="D9E2E5"/>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A4A55"/>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920240"/>
            <a:ext cx="6583680" cy="118872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291840"/>
            <a:ext cx="6217920" cy="1280160"/>
          </a:xfrm>
          <a:prstGeom prst="rect">
            <a:avLst/>
          </a:prstGeom>
          <a:noFill/>
          <a:ln/>
        </p:spPr>
        <p:txBody>
          <a:bodyPr wrap="square" rtlCol="0"/>
          <a:lstStyle>
            <a:lvl1pPr algn="l" indent="0" marL="0">
              <a:buNone/>
              <a:defRPr lang="en-US" sz="2200" dirty="0">
                <a:solidFill>
                  <a:schemeClr val="bg2"/>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rgbClr val="5B6C8F"/>
                </a:solidFill>
              </a:rPr>
              <a:t>Margdarshan AI  |  Kritical Hacks 2026</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image" Target="../media/image-9-4.png"/><Relationship Id="rId6" Type="http://schemas.openxmlformats.org/officeDocument/2006/relationships/image" Target="../media/image-9-5.png"/><Relationship Id="rId7" Type="http://schemas.openxmlformats.org/officeDocument/2006/relationships/slideLayout" Target="../slideLayouts/slideLayout3.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3.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Event label"/>
          <p:cNvSpPr txBox="1"/>
          <p:nvPr/>
        </p:nvSpPr>
        <p:spPr>
          <a:xfrm>
            <a:off x="731520" y="1097280"/>
            <a:ext cx="7315200" cy="365760"/>
          </a:xfrm>
          <a:prstGeom prst="rect">
            <a:avLst/>
          </a:prstGeom>
          <a:noFill/>
          <a:ln/>
        </p:spPr>
        <p:txBody>
          <a:bodyPr wrap="square" lIns="0" tIns="0" rIns="0" bIns="0" rtlCol="0" anchor="t"/>
          <a:lstStyle/>
          <a:p>
            <a:pPr indent="0" marL="0">
              <a:buNone/>
            </a:pPr>
            <a:r>
              <a:rPr lang="en-US" sz="1400" b="1" dirty="0">
                <a:solidFill>
                  <a:schemeClr val="accent2"/>
                </a:solidFill>
              </a:rPr>
              <a:t>KRITICAL HACKS 2026  |  AI/ML TRACK  |  STUDENT CATEGORY</a:t>
            </a:r>
            <a:endParaRPr lang="en-US" sz="1400" dirty="0"/>
          </a:p>
        </p:txBody>
      </p:sp>
      <p:sp>
        <p:nvSpPr>
          <p:cNvPr id="3" name="Text 0"/>
          <p:cNvSpPr/>
          <p:nvPr>
            <p:ph idx="100" type="title" hasCustomPrompt="1"/>
          </p:nvPr>
        </p:nvSpPr>
        <p:spPr>
          <a:xfrm>
            <a:off x="731520" y="1920240"/>
            <a:ext cx="6583680" cy="1188720"/>
          </a:xfrm>
          <a:prstGeom prst="rect">
            <a:avLst/>
          </a:prstGeom>
          <a:noFill/>
          <a:ln/>
        </p:spPr>
        <p:txBody>
          <a:bodyPr wrap="square" lIns="0" tIns="0" rIns="0" bIns="0" rtlCol="0" anchor="t"/>
          <a:lstStyle/>
          <a:p>
            <a:pPr algn="l" indent="0" marL="0">
              <a:buNone/>
            </a:pPr>
            <a:r>
              <a:rPr lang="en-US" sz="5400" b="1" dirty="0">
                <a:solidFill>
                  <a:schemeClr val="bg1"/>
                </a:solidFill>
              </a:rPr>
              <a:t>Margdarshan AI</a:t>
            </a:r>
            <a:endParaRPr lang="en-US" sz="5400" dirty="0"/>
          </a:p>
        </p:txBody>
      </p:sp>
      <p:sp>
        <p:nvSpPr>
          <p:cNvPr id="4" name="Text 0"/>
          <p:cNvSpPr/>
          <p:nvPr>
            <p:ph idx="101" type="body" hasCustomPrompt="1"/>
          </p:nvPr>
        </p:nvSpPr>
        <p:spPr>
          <a:xfrm>
            <a:off x="731520" y="3291840"/>
            <a:ext cx="6217920" cy="1280160"/>
          </a:xfrm>
          <a:prstGeom prst="rect">
            <a:avLst/>
          </a:prstGeom>
          <a:noFill/>
          <a:ln/>
        </p:spPr>
        <p:txBody>
          <a:bodyPr wrap="square" lIns="0" tIns="0" rIns="0" bIns="0" rtlCol="0" anchor="t"/>
          <a:lstStyle/>
          <a:p>
            <a:pPr algn="l" indent="0" marL="0">
              <a:buNone/>
            </a:pPr>
            <a:r>
              <a:rPr lang="en-US" sz="2200" dirty="0">
                <a:solidFill>
                  <a:schemeClr val="bg2"/>
                </a:solidFill>
              </a:rPr>
              <a:t>A voice-first agent that finds live training and job opportunities, then helps people apply</a:t>
            </a:r>
            <a:endParaRPr lang="en-US" sz="2200" dirty="0"/>
          </a:p>
        </p:txBody>
      </p:sp>
      <p:sp>
        <p:nvSpPr>
          <p:cNvPr id="5" name="TinyFish line"/>
          <p:cNvSpPr txBox="1"/>
          <p:nvPr/>
        </p:nvSpPr>
        <p:spPr>
          <a:xfrm>
            <a:off x="731520" y="5760720"/>
            <a:ext cx="7315200" cy="365760"/>
          </a:xfrm>
          <a:prstGeom prst="rect">
            <a:avLst/>
          </a:prstGeom>
          <a:noFill/>
          <a:ln/>
        </p:spPr>
        <p:txBody>
          <a:bodyPr wrap="square" lIns="0" tIns="0" rIns="0" bIns="0" rtlCol="0" anchor="t"/>
          <a:lstStyle/>
          <a:p>
            <a:pPr indent="0" marL="0">
              <a:buNone/>
            </a:pPr>
            <a:r>
              <a:rPr lang="en-US" sz="1600" b="1" dirty="0">
                <a:solidFill>
                  <a:schemeClr val="bg1"/>
                </a:solidFill>
              </a:rPr>
              <a:t>Powered by TinyFish: Search  |  Fetch  |  Agent</a:t>
            </a:r>
            <a:endParaRPr lang="en-US" sz="1600" dirty="0"/>
          </a:p>
        </p:txBody>
      </p:sp>
      <p:sp>
        <p:nvSpPr>
          <p:cNvPr id="6" name="Ring outer"/>
          <p:cNvSpPr/>
          <p:nvPr/>
        </p:nvSpPr>
        <p:spPr>
          <a:xfrm>
            <a:off x="7589520" y="1188720"/>
            <a:ext cx="4023360" cy="4023360"/>
          </a:xfrm>
          <a:prstGeom prst="ellipse">
            <a:avLst/>
          </a:prstGeom>
          <a:solidFill>
            <a:schemeClr val="accent1">
              <a:alpha val="20000"/>
            </a:schemeClr>
          </a:solidFill>
          <a:ln w="12700">
            <a:solidFill>
              <a:schemeClr val="accent1"/>
            </a:solidFill>
            <a:prstDash val="solid"/>
          </a:ln>
        </p:spPr>
      </p:sp>
      <p:sp>
        <p:nvSpPr>
          <p:cNvPr id="7" name="Ring mid"/>
          <p:cNvSpPr/>
          <p:nvPr/>
        </p:nvSpPr>
        <p:spPr>
          <a:xfrm>
            <a:off x="8229600" y="1828800"/>
            <a:ext cx="2743200" cy="2743200"/>
          </a:xfrm>
          <a:prstGeom prst="ellipse">
            <a:avLst/>
          </a:prstGeom>
          <a:solidFill>
            <a:schemeClr val="accent1">
              <a:alpha val="50000"/>
            </a:schemeClr>
          </a:solidFill>
          <a:ln w="12700">
            <a:solidFill>
              <a:schemeClr val="accent1"/>
            </a:solidFill>
            <a:prstDash val="solid"/>
          </a:ln>
        </p:spPr>
      </p:sp>
      <p:sp>
        <p:nvSpPr>
          <p:cNvPr id="8" name="Ring core"/>
          <p:cNvSpPr/>
          <p:nvPr/>
        </p:nvSpPr>
        <p:spPr>
          <a:xfrm>
            <a:off x="8823960" y="2423160"/>
            <a:ext cx="1554480" cy="1554480"/>
          </a:xfrm>
          <a:prstGeom prst="ellipse">
            <a:avLst/>
          </a:prstGeom>
          <a:solidFill>
            <a:schemeClr val="accent2"/>
          </a:solidFill>
          <a:ln w="12700">
            <a:solidFill>
              <a:schemeClr val="accent2"/>
            </a:solidFill>
            <a:prstDash val="solid"/>
          </a:ln>
        </p:spPr>
      </p:sp>
      <p:pic>
        <p:nvPicPr>
          <p:cNvPr id="9" name="Mic icon" descr="Microphone">    </p:cNvPr>
          <p:cNvPicPr>
            <a:picLocks noChangeAspect="1"/>
          </p:cNvPicPr>
          <p:nvPr/>
        </p:nvPicPr>
        <p:blipFill>
          <a:blip r:embed="rId1"/>
          <a:stretch>
            <a:fillRect/>
          </a:stretch>
        </p:blipFill>
        <p:spPr>
          <a:xfrm>
            <a:off x="9345168" y="2944368"/>
            <a:ext cx="512064" cy="512064"/>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Training is not translating into livelihoods</a:t>
            </a:r>
            <a:endParaRPr lang="en-US" sz="3200" dirty="0"/>
          </a:p>
        </p:txBody>
      </p:sp>
      <p:sp>
        <p:nvSpPr>
          <p:cNvPr id="3" name="Stat card 1"/>
          <p:cNvSpPr/>
          <p:nvPr/>
        </p:nvSpPr>
        <p:spPr>
          <a:xfrm>
            <a:off x="548640" y="1371600"/>
            <a:ext cx="3520440" cy="2103120"/>
          </a:xfrm>
          <a:prstGeom prst="roundRect">
            <a:avLst>
              <a:gd name="adj" fmla="val 5217"/>
            </a:avLst>
          </a:prstGeom>
          <a:solidFill>
            <a:schemeClr val="bg2"/>
          </a:solidFill>
          <a:ln w="12700">
            <a:solidFill>
              <a:schemeClr val="bg2"/>
            </a:solidFill>
            <a:prstDash val="solid"/>
          </a:ln>
        </p:spPr>
      </p:sp>
      <p:sp>
        <p:nvSpPr>
          <p:cNvPr id="4" name="Stat 1"/>
          <p:cNvSpPr txBox="1"/>
          <p:nvPr/>
        </p:nvSpPr>
        <p:spPr>
          <a:xfrm>
            <a:off x="777240" y="1481328"/>
            <a:ext cx="3063240" cy="73152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45.6%</a:t>
            </a:r>
            <a:endParaRPr lang="en-US" sz="4400" dirty="0"/>
          </a:p>
        </p:txBody>
      </p:sp>
      <p:sp>
        <p:nvSpPr>
          <p:cNvPr id="5" name="Stat label 1"/>
          <p:cNvSpPr txBox="1"/>
          <p:nvPr/>
        </p:nvSpPr>
        <p:spPr>
          <a:xfrm>
            <a:off x="777240" y="2286000"/>
            <a:ext cx="3063240" cy="1097280"/>
          </a:xfrm>
          <a:prstGeom prst="rect">
            <a:avLst/>
          </a:prstGeom>
          <a:noFill/>
          <a:ln/>
        </p:spPr>
        <p:txBody>
          <a:bodyPr wrap="square" lIns="0" tIns="0" rIns="0" bIns="0" rtlCol="0" anchor="t"/>
          <a:lstStyle/>
          <a:p>
            <a:pPr indent="0" marL="0">
              <a:buNone/>
            </a:pPr>
            <a:r>
              <a:rPr lang="en-US" sz="1400" dirty="0">
                <a:solidFill>
                  <a:schemeClr val="tx1"/>
                </a:solidFill>
              </a:rPr>
              <a:t>of 33.6 lakh PMKVY 2.0 short-term trainees were reported placed (NSDC analytics)</a:t>
            </a:r>
            <a:endParaRPr lang="en-US" sz="1400" dirty="0"/>
          </a:p>
        </p:txBody>
      </p:sp>
      <p:sp>
        <p:nvSpPr>
          <p:cNvPr id="6" name="Stat card 2"/>
          <p:cNvSpPr/>
          <p:nvPr/>
        </p:nvSpPr>
        <p:spPr>
          <a:xfrm>
            <a:off x="4325112" y="1371600"/>
            <a:ext cx="3520440" cy="2103120"/>
          </a:xfrm>
          <a:prstGeom prst="roundRect">
            <a:avLst>
              <a:gd name="adj" fmla="val 5217"/>
            </a:avLst>
          </a:prstGeom>
          <a:solidFill>
            <a:schemeClr val="bg2"/>
          </a:solidFill>
          <a:ln w="12700">
            <a:solidFill>
              <a:schemeClr val="bg2"/>
            </a:solidFill>
            <a:prstDash val="solid"/>
          </a:ln>
        </p:spPr>
      </p:sp>
      <p:sp>
        <p:nvSpPr>
          <p:cNvPr id="7" name="Stat 2"/>
          <p:cNvSpPr txBox="1"/>
          <p:nvPr/>
        </p:nvSpPr>
        <p:spPr>
          <a:xfrm>
            <a:off x="4553712" y="1481328"/>
            <a:ext cx="3063240" cy="73152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6.8 lakh+</a:t>
            </a:r>
            <a:endParaRPr lang="en-US" sz="4400" dirty="0"/>
          </a:p>
        </p:txBody>
      </p:sp>
      <p:sp>
        <p:nvSpPr>
          <p:cNvPr id="8" name="Stat label 2"/>
          <p:cNvSpPr txBox="1"/>
          <p:nvPr/>
        </p:nvSpPr>
        <p:spPr>
          <a:xfrm>
            <a:off x="4553712" y="2286000"/>
            <a:ext cx="3063240" cy="1097280"/>
          </a:xfrm>
          <a:prstGeom prst="rect">
            <a:avLst/>
          </a:prstGeom>
          <a:noFill/>
          <a:ln/>
        </p:spPr>
        <p:txBody>
          <a:bodyPr wrap="square" lIns="0" tIns="0" rIns="0" bIns="0" rtlCol="0" anchor="t"/>
          <a:lstStyle/>
          <a:p>
            <a:pPr indent="0" marL="0">
              <a:buNone/>
            </a:pPr>
            <a:r>
              <a:rPr lang="en-US" sz="1400" dirty="0">
                <a:solidFill>
                  <a:schemeClr val="tx1"/>
                </a:solidFill>
              </a:rPr>
              <a:t>of 35.4 lakh enrolled across PMKVY phases were classed as dropouts (PMKVY dashboard, via Business Standard)</a:t>
            </a:r>
            <a:endParaRPr lang="en-US" sz="1400" dirty="0"/>
          </a:p>
        </p:txBody>
      </p:sp>
      <p:sp>
        <p:nvSpPr>
          <p:cNvPr id="9" name="Stat card 3"/>
          <p:cNvSpPr/>
          <p:nvPr/>
        </p:nvSpPr>
        <p:spPr>
          <a:xfrm>
            <a:off x="8101584" y="1371600"/>
            <a:ext cx="3520440" cy="2103120"/>
          </a:xfrm>
          <a:prstGeom prst="roundRect">
            <a:avLst>
              <a:gd name="adj" fmla="val 5217"/>
            </a:avLst>
          </a:prstGeom>
          <a:solidFill>
            <a:schemeClr val="bg2"/>
          </a:solidFill>
          <a:ln w="12700">
            <a:solidFill>
              <a:schemeClr val="bg2"/>
            </a:solidFill>
            <a:prstDash val="solid"/>
          </a:ln>
        </p:spPr>
      </p:sp>
      <p:sp>
        <p:nvSpPr>
          <p:cNvPr id="10" name="Stat 3"/>
          <p:cNvSpPr txBox="1"/>
          <p:nvPr/>
        </p:nvSpPr>
        <p:spPr>
          <a:xfrm>
            <a:off x="8330184" y="1481328"/>
            <a:ext cx="3063240" cy="731520"/>
          </a:xfrm>
          <a:prstGeom prst="rect">
            <a:avLst/>
          </a:prstGeom>
          <a:noFill/>
          <a:ln/>
        </p:spPr>
        <p:txBody>
          <a:bodyPr wrap="square" lIns="0" tIns="0" rIns="0" bIns="0" rtlCol="0" anchor="t"/>
          <a:lstStyle/>
          <a:p>
            <a:pPr indent="0" marL="0">
              <a:buNone/>
            </a:pPr>
            <a:r>
              <a:rPr lang="en-US" sz="4400" b="1" dirty="0">
                <a:solidFill>
                  <a:schemeClr val="accent1"/>
                </a:solidFill>
                <a:latin typeface="+mj-lt" pitchFamily="34" charset="0"/>
                <a:ea typeface="+mj-lt" pitchFamily="34" charset="-122"/>
                <a:cs typeface="+mj-lt" pitchFamily="34" charset="-120"/>
              </a:rPr>
              <a:t>+15%</a:t>
            </a:r>
            <a:endParaRPr lang="en-US" sz="4400" dirty="0"/>
          </a:p>
        </p:txBody>
      </p:sp>
      <p:sp>
        <p:nvSpPr>
          <p:cNvPr id="11" name="Stat label 3"/>
          <p:cNvSpPr txBox="1"/>
          <p:nvPr/>
        </p:nvSpPr>
        <p:spPr>
          <a:xfrm>
            <a:off x="8330184" y="2286000"/>
            <a:ext cx="3063240" cy="1097280"/>
          </a:xfrm>
          <a:prstGeom prst="rect">
            <a:avLst/>
          </a:prstGeom>
          <a:noFill/>
          <a:ln/>
        </p:spPr>
        <p:txBody>
          <a:bodyPr wrap="square" lIns="0" tIns="0" rIns="0" bIns="0" rtlCol="0" anchor="t"/>
          <a:lstStyle/>
          <a:p>
            <a:pPr indent="0" marL="0">
              <a:buNone/>
            </a:pPr>
            <a:r>
              <a:rPr lang="en-US" sz="1400" dirty="0">
                <a:solidFill>
                  <a:schemeClr val="tx1"/>
                </a:solidFill>
              </a:rPr>
              <a:t>higher monthly income for PMKVY-trained people than a comparison group, so guidance that works pays off</a:t>
            </a:r>
            <a:endParaRPr lang="en-US" sz="1400" dirty="0"/>
          </a:p>
        </p:txBody>
      </p:sp>
      <p:sp>
        <p:nvSpPr>
          <p:cNvPr id="12" name="Barriers heading"/>
          <p:cNvSpPr txBox="1"/>
          <p:nvPr/>
        </p:nvSpPr>
        <p:spPr>
          <a:xfrm>
            <a:off x="548640" y="3749040"/>
            <a:ext cx="7315200" cy="365760"/>
          </a:xfrm>
          <a:prstGeom prst="rect">
            <a:avLst/>
          </a:prstGeom>
          <a:noFill/>
          <a:ln/>
        </p:spPr>
        <p:txBody>
          <a:bodyPr wrap="square" lIns="0" tIns="0" rIns="0" bIns="0" rtlCol="0" anchor="t"/>
          <a:lstStyle/>
          <a:p>
            <a:pPr indent="0" marL="0">
              <a:buNone/>
            </a:pPr>
            <a:r>
              <a:rPr lang="en-US" sz="2000" b="1" dirty="0">
                <a:solidFill>
                  <a:schemeClr val="tx2"/>
                </a:solidFill>
              </a:rPr>
              <a:t>Why people fall through the gap</a:t>
            </a:r>
            <a:endParaRPr lang="en-US" sz="2000" dirty="0"/>
          </a:p>
        </p:txBody>
      </p:sp>
      <p:sp>
        <p:nvSpPr>
          <p:cNvPr id="13" name="Barrier card 1"/>
          <p:cNvSpPr/>
          <p:nvPr/>
        </p:nvSpPr>
        <p:spPr>
          <a:xfrm>
            <a:off x="548640" y="4206240"/>
            <a:ext cx="3520440" cy="1920240"/>
          </a:xfrm>
          <a:prstGeom prst="roundRect">
            <a:avLst>
              <a:gd name="adj" fmla="val 5714"/>
            </a:avLst>
          </a:prstGeom>
          <a:solidFill>
            <a:schemeClr val="bg1"/>
          </a:solidFill>
          <a:ln w="12700">
            <a:solidFill>
              <a:schemeClr val="accent6"/>
            </a:solidFill>
            <a:prstDash val="solid"/>
          </a:ln>
        </p:spPr>
      </p:sp>
      <p:sp>
        <p:nvSpPr>
          <p:cNvPr id="14" name="Barrier 1 circle"/>
          <p:cNvSpPr/>
          <p:nvPr/>
        </p:nvSpPr>
        <p:spPr>
          <a:xfrm>
            <a:off x="777240" y="4389120"/>
            <a:ext cx="548640" cy="548640"/>
          </a:xfrm>
          <a:prstGeom prst="ellipse">
            <a:avLst/>
          </a:prstGeom>
          <a:solidFill>
            <a:schemeClr val="accent1"/>
          </a:solidFill>
          <a:ln w="12700">
            <a:solidFill>
              <a:schemeClr val="accent1"/>
            </a:solidFill>
            <a:prstDash val="solid"/>
          </a:ln>
        </p:spPr>
      </p:sp>
      <p:pic>
        <p:nvPicPr>
          <p:cNvPr id="15" name="Barrier 1 icon" descr="FaUniversalAccess">    </p:cNvPr>
          <p:cNvPicPr>
            <a:picLocks noChangeAspect="1"/>
          </p:cNvPicPr>
          <p:nvPr/>
        </p:nvPicPr>
        <p:blipFill>
          <a:blip r:embed="rId1"/>
          <a:stretch>
            <a:fillRect/>
          </a:stretch>
        </p:blipFill>
        <p:spPr>
          <a:xfrm>
            <a:off x="919886" y="4531766"/>
            <a:ext cx="263347" cy="263347"/>
          </a:xfrm>
          <a:prstGeom prst="rect">
            <a:avLst/>
          </a:prstGeom>
        </p:spPr>
      </p:pic>
      <p:sp>
        <p:nvSpPr>
          <p:cNvPr id="16" name="Barrier title 1"/>
          <p:cNvSpPr txBox="1"/>
          <p:nvPr/>
        </p:nvSpPr>
        <p:spPr>
          <a:xfrm>
            <a:off x="1508760" y="4480560"/>
            <a:ext cx="2377440" cy="365760"/>
          </a:xfrm>
          <a:prstGeom prst="rect">
            <a:avLst/>
          </a:prstGeom>
          <a:noFill/>
          <a:ln/>
        </p:spPr>
        <p:txBody>
          <a:bodyPr wrap="square" lIns="0" tIns="0" rIns="0" bIns="0" rtlCol="0" anchor="t"/>
          <a:lstStyle/>
          <a:p>
            <a:pPr indent="0" marL="0">
              <a:buNone/>
            </a:pPr>
            <a:r>
              <a:rPr lang="en-US" sz="1800" b="1" dirty="0">
                <a:solidFill>
                  <a:schemeClr val="tx2"/>
                </a:solidFill>
              </a:rPr>
              <a:t>Access</a:t>
            </a:r>
            <a:endParaRPr lang="en-US" sz="1800" dirty="0"/>
          </a:p>
        </p:txBody>
      </p:sp>
      <p:sp>
        <p:nvSpPr>
          <p:cNvPr id="17" name="Barrier text 1"/>
          <p:cNvSpPr txBox="1"/>
          <p:nvPr/>
        </p:nvSpPr>
        <p:spPr>
          <a:xfrm>
            <a:off x="777240" y="5120640"/>
            <a:ext cx="3063240" cy="914400"/>
          </a:xfrm>
          <a:prstGeom prst="rect">
            <a:avLst/>
          </a:prstGeom>
          <a:noFill/>
          <a:ln/>
        </p:spPr>
        <p:txBody>
          <a:bodyPr wrap="square" lIns="0" tIns="0" rIns="0" bIns="0" rtlCol="0" anchor="t"/>
          <a:lstStyle/>
          <a:p>
            <a:pPr indent="0" marL="0">
              <a:buNone/>
            </a:pPr>
            <a:r>
              <a:rPr lang="en-US" sz="1400" dirty="0">
                <a:solidFill>
                  <a:schemeClr val="tx1"/>
                </a:solidFill>
              </a:rPr>
              <a:t>Forms and portals assume literacy, typing and English.</a:t>
            </a:r>
            <a:endParaRPr lang="en-US" sz="1400" dirty="0"/>
          </a:p>
        </p:txBody>
      </p:sp>
      <p:sp>
        <p:nvSpPr>
          <p:cNvPr id="18" name="Barrier card 2"/>
          <p:cNvSpPr/>
          <p:nvPr/>
        </p:nvSpPr>
        <p:spPr>
          <a:xfrm>
            <a:off x="4325112" y="4206240"/>
            <a:ext cx="3520440" cy="1920240"/>
          </a:xfrm>
          <a:prstGeom prst="roundRect">
            <a:avLst>
              <a:gd name="adj" fmla="val 5714"/>
            </a:avLst>
          </a:prstGeom>
          <a:solidFill>
            <a:schemeClr val="bg1"/>
          </a:solidFill>
          <a:ln w="12700">
            <a:solidFill>
              <a:schemeClr val="accent6"/>
            </a:solidFill>
            <a:prstDash val="solid"/>
          </a:ln>
        </p:spPr>
      </p:sp>
      <p:sp>
        <p:nvSpPr>
          <p:cNvPr id="19" name="Barrier 2 circle"/>
          <p:cNvSpPr/>
          <p:nvPr/>
        </p:nvSpPr>
        <p:spPr>
          <a:xfrm>
            <a:off x="4553712" y="4389120"/>
            <a:ext cx="548640" cy="548640"/>
          </a:xfrm>
          <a:prstGeom prst="ellipse">
            <a:avLst/>
          </a:prstGeom>
          <a:solidFill>
            <a:schemeClr val="accent1"/>
          </a:solidFill>
          <a:ln w="12700">
            <a:solidFill>
              <a:schemeClr val="accent1"/>
            </a:solidFill>
            <a:prstDash val="solid"/>
          </a:ln>
        </p:spPr>
      </p:sp>
      <p:pic>
        <p:nvPicPr>
          <p:cNvPr id="20" name="Barrier 2 icon" descr="FaCompass">    </p:cNvPr>
          <p:cNvPicPr>
            <a:picLocks noChangeAspect="1"/>
          </p:cNvPicPr>
          <p:nvPr/>
        </p:nvPicPr>
        <p:blipFill>
          <a:blip r:embed="rId2"/>
          <a:stretch>
            <a:fillRect/>
          </a:stretch>
        </p:blipFill>
        <p:spPr>
          <a:xfrm>
            <a:off x="4696358" y="4531766"/>
            <a:ext cx="263347" cy="263347"/>
          </a:xfrm>
          <a:prstGeom prst="rect">
            <a:avLst/>
          </a:prstGeom>
        </p:spPr>
      </p:pic>
      <p:sp>
        <p:nvSpPr>
          <p:cNvPr id="21" name="Barrier title 2"/>
          <p:cNvSpPr txBox="1"/>
          <p:nvPr/>
        </p:nvSpPr>
        <p:spPr>
          <a:xfrm>
            <a:off x="5285232" y="4480560"/>
            <a:ext cx="2377440" cy="365760"/>
          </a:xfrm>
          <a:prstGeom prst="rect">
            <a:avLst/>
          </a:prstGeom>
          <a:noFill/>
          <a:ln/>
        </p:spPr>
        <p:txBody>
          <a:bodyPr wrap="square" lIns="0" tIns="0" rIns="0" bIns="0" rtlCol="0" anchor="t"/>
          <a:lstStyle/>
          <a:p>
            <a:pPr indent="0" marL="0">
              <a:buNone/>
            </a:pPr>
            <a:r>
              <a:rPr lang="en-US" sz="1800" b="1" dirty="0">
                <a:solidFill>
                  <a:schemeClr val="tx2"/>
                </a:solidFill>
              </a:rPr>
              <a:t>Guidance</a:t>
            </a:r>
            <a:endParaRPr lang="en-US" sz="1800" dirty="0"/>
          </a:p>
        </p:txBody>
      </p:sp>
      <p:sp>
        <p:nvSpPr>
          <p:cNvPr id="22" name="Barrier text 2"/>
          <p:cNvSpPr txBox="1"/>
          <p:nvPr/>
        </p:nvSpPr>
        <p:spPr>
          <a:xfrm>
            <a:off x="4553712" y="5120640"/>
            <a:ext cx="3063240" cy="914400"/>
          </a:xfrm>
          <a:prstGeom prst="rect">
            <a:avLst/>
          </a:prstGeom>
          <a:noFill/>
          <a:ln/>
        </p:spPr>
        <p:txBody>
          <a:bodyPr wrap="square" lIns="0" tIns="0" rIns="0" bIns="0" rtlCol="0" anchor="t"/>
          <a:lstStyle/>
          <a:p>
            <a:pPr indent="0" marL="0">
              <a:buNone/>
            </a:pPr>
            <a:r>
              <a:rPr lang="en-US" sz="1400" dirty="0">
                <a:solidFill>
                  <a:schemeClr val="tx1"/>
                </a:solidFill>
              </a:rPr>
              <a:t>No one tells a first-time learner which course fits their level, time and budget.</a:t>
            </a:r>
            <a:endParaRPr lang="en-US" sz="1400" dirty="0"/>
          </a:p>
        </p:txBody>
      </p:sp>
      <p:sp>
        <p:nvSpPr>
          <p:cNvPr id="23" name="Barrier card 3"/>
          <p:cNvSpPr/>
          <p:nvPr/>
        </p:nvSpPr>
        <p:spPr>
          <a:xfrm>
            <a:off x="8101584" y="4206240"/>
            <a:ext cx="3520440" cy="1920240"/>
          </a:xfrm>
          <a:prstGeom prst="roundRect">
            <a:avLst>
              <a:gd name="adj" fmla="val 5714"/>
            </a:avLst>
          </a:prstGeom>
          <a:solidFill>
            <a:schemeClr val="bg1"/>
          </a:solidFill>
          <a:ln w="12700">
            <a:solidFill>
              <a:schemeClr val="accent6"/>
            </a:solidFill>
            <a:prstDash val="solid"/>
          </a:ln>
        </p:spPr>
      </p:sp>
      <p:sp>
        <p:nvSpPr>
          <p:cNvPr id="24" name="Barrier 3 circle"/>
          <p:cNvSpPr/>
          <p:nvPr/>
        </p:nvSpPr>
        <p:spPr>
          <a:xfrm>
            <a:off x="8330184" y="4389120"/>
            <a:ext cx="548640" cy="548640"/>
          </a:xfrm>
          <a:prstGeom prst="ellipse">
            <a:avLst/>
          </a:prstGeom>
          <a:solidFill>
            <a:schemeClr val="accent1"/>
          </a:solidFill>
          <a:ln w="12700">
            <a:solidFill>
              <a:schemeClr val="accent1"/>
            </a:solidFill>
            <a:prstDash val="solid"/>
          </a:ln>
        </p:spPr>
      </p:sp>
      <p:pic>
        <p:nvPicPr>
          <p:cNvPr id="25" name="Barrier 3 icon" descr="FaDatabase">    </p:cNvPr>
          <p:cNvPicPr>
            <a:picLocks noChangeAspect="1"/>
          </p:cNvPicPr>
          <p:nvPr/>
        </p:nvPicPr>
        <p:blipFill>
          <a:blip r:embed="rId3"/>
          <a:stretch>
            <a:fillRect/>
          </a:stretch>
        </p:blipFill>
        <p:spPr>
          <a:xfrm>
            <a:off x="8472830" y="4531766"/>
            <a:ext cx="263347" cy="263347"/>
          </a:xfrm>
          <a:prstGeom prst="rect">
            <a:avLst/>
          </a:prstGeom>
        </p:spPr>
      </p:pic>
      <p:sp>
        <p:nvSpPr>
          <p:cNvPr id="26" name="Barrier title 3"/>
          <p:cNvSpPr txBox="1"/>
          <p:nvPr/>
        </p:nvSpPr>
        <p:spPr>
          <a:xfrm>
            <a:off x="9061704" y="4480560"/>
            <a:ext cx="2377440" cy="365760"/>
          </a:xfrm>
          <a:prstGeom prst="rect">
            <a:avLst/>
          </a:prstGeom>
          <a:noFill/>
          <a:ln/>
        </p:spPr>
        <p:txBody>
          <a:bodyPr wrap="square" lIns="0" tIns="0" rIns="0" bIns="0" rtlCol="0" anchor="t"/>
          <a:lstStyle/>
          <a:p>
            <a:pPr indent="0" marL="0">
              <a:buNone/>
            </a:pPr>
            <a:r>
              <a:rPr lang="en-US" sz="1800" b="1" dirty="0">
                <a:solidFill>
                  <a:schemeClr val="tx2"/>
                </a:solidFill>
              </a:rPr>
              <a:t>Information</a:t>
            </a:r>
            <a:endParaRPr lang="en-US" sz="1800" dirty="0"/>
          </a:p>
        </p:txBody>
      </p:sp>
      <p:sp>
        <p:nvSpPr>
          <p:cNvPr id="27" name="Barrier text 3"/>
          <p:cNvSpPr txBox="1"/>
          <p:nvPr/>
        </p:nvSpPr>
        <p:spPr>
          <a:xfrm>
            <a:off x="8330184" y="5120640"/>
            <a:ext cx="3063240" cy="914400"/>
          </a:xfrm>
          <a:prstGeom prst="rect">
            <a:avLst/>
          </a:prstGeom>
          <a:noFill/>
          <a:ln/>
        </p:spPr>
        <p:txBody>
          <a:bodyPr wrap="square" lIns="0" tIns="0" rIns="0" bIns="0" rtlCol="0" anchor="t"/>
          <a:lstStyle/>
          <a:p>
            <a:pPr indent="0" marL="0">
              <a:buNone/>
            </a:pPr>
            <a:r>
              <a:rPr lang="en-US" sz="1400" dirty="0">
                <a:solidFill>
                  <a:schemeClr val="tx1"/>
                </a:solidFill>
              </a:rPr>
              <a:t>Batches and openings are scattered across many portals and go out of date.</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Margdarshan AI: talk, get matched, apply</a:t>
            </a:r>
            <a:endParaRPr lang="en-US" sz="3200" dirty="0"/>
          </a:p>
        </p:txBody>
      </p:sp>
      <p:sp>
        <p:nvSpPr>
          <p:cNvPr id="3" name="Step card 1"/>
          <p:cNvSpPr/>
          <p:nvPr/>
        </p:nvSpPr>
        <p:spPr>
          <a:xfrm>
            <a:off x="548640" y="1371600"/>
            <a:ext cx="2103120" cy="3291840"/>
          </a:xfrm>
          <a:prstGeom prst="roundRect">
            <a:avLst>
              <a:gd name="adj" fmla="val 5217"/>
            </a:avLst>
          </a:prstGeom>
          <a:solidFill>
            <a:schemeClr val="bg2"/>
          </a:solidFill>
          <a:ln w="12700">
            <a:solidFill>
              <a:schemeClr val="bg2"/>
            </a:solidFill>
            <a:prstDash val="solid"/>
          </a:ln>
        </p:spPr>
      </p:sp>
      <p:sp>
        <p:nvSpPr>
          <p:cNvPr id="4" name="Step 1 circle"/>
          <p:cNvSpPr/>
          <p:nvPr/>
        </p:nvSpPr>
        <p:spPr>
          <a:xfrm>
            <a:off x="731520" y="1554480"/>
            <a:ext cx="685800" cy="685800"/>
          </a:xfrm>
          <a:prstGeom prst="ellipse">
            <a:avLst/>
          </a:prstGeom>
          <a:solidFill>
            <a:schemeClr val="accent1"/>
          </a:solidFill>
          <a:ln w="12700">
            <a:solidFill>
              <a:schemeClr val="accent1"/>
            </a:solidFill>
            <a:prstDash val="solid"/>
          </a:ln>
        </p:spPr>
      </p:sp>
      <p:pic>
        <p:nvPicPr>
          <p:cNvPr id="5" name="Step 1 icon" descr="FaMicrophone">    </p:cNvPr>
          <p:cNvPicPr>
            <a:picLocks noChangeAspect="1"/>
          </p:cNvPicPr>
          <p:nvPr/>
        </p:nvPicPr>
        <p:blipFill>
          <a:blip r:embed="rId1"/>
          <a:stretch>
            <a:fillRect/>
          </a:stretch>
        </p:blipFill>
        <p:spPr>
          <a:xfrm>
            <a:off x="909828" y="1732788"/>
            <a:ext cx="329184" cy="329184"/>
          </a:xfrm>
          <a:prstGeom prst="rect">
            <a:avLst/>
          </a:prstGeom>
        </p:spPr>
      </p:pic>
      <p:sp>
        <p:nvSpPr>
          <p:cNvPr id="6" name="Step number 1"/>
          <p:cNvSpPr txBox="1"/>
          <p:nvPr/>
        </p:nvSpPr>
        <p:spPr>
          <a:xfrm>
            <a:off x="2103120" y="1554480"/>
            <a:ext cx="365760" cy="457200"/>
          </a:xfrm>
          <a:prstGeom prst="rect">
            <a:avLst/>
          </a:prstGeom>
          <a:noFill/>
          <a:ln/>
        </p:spPr>
        <p:txBody>
          <a:bodyPr wrap="square" lIns="0" tIns="0" rIns="0" bIns="0" rtlCol="0" anchor="t"/>
          <a:lstStyle/>
          <a:p>
            <a:pPr algn="r" indent="0" marL="0">
              <a:buNone/>
            </a:pPr>
            <a:r>
              <a:rPr lang="en-US" sz="2800" b="1" dirty="0">
                <a:solidFill>
                  <a:schemeClr val="accent5"/>
                </a:solidFill>
                <a:latin typeface="+mj-lt" pitchFamily="34" charset="0"/>
                <a:ea typeface="+mj-lt" pitchFamily="34" charset="-122"/>
                <a:cs typeface="+mj-lt" pitchFamily="34" charset="-120"/>
              </a:rPr>
              <a:t>1</a:t>
            </a:r>
            <a:endParaRPr lang="en-US" sz="2800" dirty="0"/>
          </a:p>
        </p:txBody>
      </p:sp>
      <p:sp>
        <p:nvSpPr>
          <p:cNvPr id="7" name="Step title 1"/>
          <p:cNvSpPr txBox="1"/>
          <p:nvPr/>
        </p:nvSpPr>
        <p:spPr>
          <a:xfrm>
            <a:off x="731520" y="2468880"/>
            <a:ext cx="1737360" cy="365760"/>
          </a:xfrm>
          <a:prstGeom prst="rect">
            <a:avLst/>
          </a:prstGeom>
          <a:noFill/>
          <a:ln/>
        </p:spPr>
        <p:txBody>
          <a:bodyPr wrap="square" lIns="0" tIns="0" rIns="0" bIns="0" rtlCol="0" anchor="t"/>
          <a:lstStyle/>
          <a:p>
            <a:pPr indent="0" marL="0">
              <a:buNone/>
            </a:pPr>
            <a:r>
              <a:rPr lang="en-US" sz="2000" b="1" dirty="0">
                <a:solidFill>
                  <a:schemeClr val="tx2"/>
                </a:solidFill>
              </a:rPr>
              <a:t>Speak</a:t>
            </a:r>
            <a:endParaRPr lang="en-US" sz="2000" dirty="0"/>
          </a:p>
        </p:txBody>
      </p:sp>
      <p:sp>
        <p:nvSpPr>
          <p:cNvPr id="8" name="Step text 1"/>
          <p:cNvSpPr txBox="1"/>
          <p:nvPr/>
        </p:nvSpPr>
        <p:spPr>
          <a:xfrm>
            <a:off x="731520" y="2926080"/>
            <a:ext cx="1783080" cy="1645920"/>
          </a:xfrm>
          <a:prstGeom prst="rect">
            <a:avLst/>
          </a:prstGeom>
          <a:noFill/>
          <a:ln/>
        </p:spPr>
        <p:txBody>
          <a:bodyPr wrap="square" lIns="0" tIns="0" rIns="0" bIns="0" rtlCol="0" anchor="t"/>
          <a:lstStyle/>
          <a:p>
            <a:pPr indent="0" marL="0">
              <a:buNone/>
            </a:pPr>
            <a:r>
              <a:rPr lang="en-US" sz="1400" dirty="0">
                <a:solidFill>
                  <a:schemeClr val="tx1"/>
                </a:solidFill>
              </a:rPr>
              <a:t>The user talks in their own language. No forms, no typing.</a:t>
            </a:r>
            <a:endParaRPr lang="en-US" sz="1400" dirty="0"/>
          </a:p>
        </p:txBody>
      </p:sp>
      <p:sp>
        <p:nvSpPr>
          <p:cNvPr id="9" name="Step card 2"/>
          <p:cNvSpPr/>
          <p:nvPr/>
        </p:nvSpPr>
        <p:spPr>
          <a:xfrm>
            <a:off x="2788920" y="1371600"/>
            <a:ext cx="2103120" cy="3291840"/>
          </a:xfrm>
          <a:prstGeom prst="roundRect">
            <a:avLst>
              <a:gd name="adj" fmla="val 5217"/>
            </a:avLst>
          </a:prstGeom>
          <a:solidFill>
            <a:schemeClr val="bg2"/>
          </a:solidFill>
          <a:ln w="12700">
            <a:solidFill>
              <a:schemeClr val="bg2"/>
            </a:solidFill>
            <a:prstDash val="solid"/>
          </a:ln>
        </p:spPr>
      </p:sp>
      <p:sp>
        <p:nvSpPr>
          <p:cNvPr id="10" name="Step 2 circle"/>
          <p:cNvSpPr/>
          <p:nvPr/>
        </p:nvSpPr>
        <p:spPr>
          <a:xfrm>
            <a:off x="2971800" y="1554480"/>
            <a:ext cx="685800" cy="685800"/>
          </a:xfrm>
          <a:prstGeom prst="ellipse">
            <a:avLst/>
          </a:prstGeom>
          <a:solidFill>
            <a:schemeClr val="accent1"/>
          </a:solidFill>
          <a:ln w="12700">
            <a:solidFill>
              <a:schemeClr val="accent1"/>
            </a:solidFill>
            <a:prstDash val="solid"/>
          </a:ln>
        </p:spPr>
      </p:sp>
      <p:pic>
        <p:nvPicPr>
          <p:cNvPr id="11" name="Step 2 icon" descr="FaUserCheck">    </p:cNvPr>
          <p:cNvPicPr>
            <a:picLocks noChangeAspect="1"/>
          </p:cNvPicPr>
          <p:nvPr/>
        </p:nvPicPr>
        <p:blipFill>
          <a:blip r:embed="rId2"/>
          <a:stretch>
            <a:fillRect/>
          </a:stretch>
        </p:blipFill>
        <p:spPr>
          <a:xfrm>
            <a:off x="3150108" y="1732788"/>
            <a:ext cx="329184" cy="329184"/>
          </a:xfrm>
          <a:prstGeom prst="rect">
            <a:avLst/>
          </a:prstGeom>
        </p:spPr>
      </p:pic>
      <p:sp>
        <p:nvSpPr>
          <p:cNvPr id="12" name="Step number 2"/>
          <p:cNvSpPr txBox="1"/>
          <p:nvPr/>
        </p:nvSpPr>
        <p:spPr>
          <a:xfrm>
            <a:off x="4343400" y="1554480"/>
            <a:ext cx="365760" cy="457200"/>
          </a:xfrm>
          <a:prstGeom prst="rect">
            <a:avLst/>
          </a:prstGeom>
          <a:noFill/>
          <a:ln/>
        </p:spPr>
        <p:txBody>
          <a:bodyPr wrap="square" lIns="0" tIns="0" rIns="0" bIns="0" rtlCol="0" anchor="t"/>
          <a:lstStyle/>
          <a:p>
            <a:pPr algn="r" indent="0" marL="0">
              <a:buNone/>
            </a:pPr>
            <a:r>
              <a:rPr lang="en-US" sz="2800" b="1" dirty="0">
                <a:solidFill>
                  <a:schemeClr val="accent5"/>
                </a:solidFill>
                <a:latin typeface="+mj-lt" pitchFamily="34" charset="0"/>
                <a:ea typeface="+mj-lt" pitchFamily="34" charset="-122"/>
                <a:cs typeface="+mj-lt" pitchFamily="34" charset="-120"/>
              </a:rPr>
              <a:t>2</a:t>
            </a:r>
            <a:endParaRPr lang="en-US" sz="2800" dirty="0"/>
          </a:p>
        </p:txBody>
      </p:sp>
      <p:sp>
        <p:nvSpPr>
          <p:cNvPr id="13" name="Step title 2"/>
          <p:cNvSpPr txBox="1"/>
          <p:nvPr/>
        </p:nvSpPr>
        <p:spPr>
          <a:xfrm>
            <a:off x="2971800" y="2468880"/>
            <a:ext cx="1737360" cy="365760"/>
          </a:xfrm>
          <a:prstGeom prst="rect">
            <a:avLst/>
          </a:prstGeom>
          <a:noFill/>
          <a:ln/>
        </p:spPr>
        <p:txBody>
          <a:bodyPr wrap="square" lIns="0" tIns="0" rIns="0" bIns="0" rtlCol="0" anchor="t"/>
          <a:lstStyle/>
          <a:p>
            <a:pPr indent="0" marL="0">
              <a:buNone/>
            </a:pPr>
            <a:r>
              <a:rPr lang="en-US" sz="2000" b="1" dirty="0">
                <a:solidFill>
                  <a:schemeClr val="tx2"/>
                </a:solidFill>
              </a:rPr>
              <a:t>Understand</a:t>
            </a:r>
            <a:endParaRPr lang="en-US" sz="2000" dirty="0"/>
          </a:p>
        </p:txBody>
      </p:sp>
      <p:sp>
        <p:nvSpPr>
          <p:cNvPr id="14" name="Step text 2"/>
          <p:cNvSpPr txBox="1"/>
          <p:nvPr/>
        </p:nvSpPr>
        <p:spPr>
          <a:xfrm>
            <a:off x="2971800" y="2926080"/>
            <a:ext cx="1783080" cy="1645920"/>
          </a:xfrm>
          <a:prstGeom prst="rect">
            <a:avLst/>
          </a:prstGeom>
          <a:noFill/>
          <a:ln/>
        </p:spPr>
        <p:txBody>
          <a:bodyPr wrap="square" lIns="0" tIns="0" rIns="0" bIns="0" rtlCol="0" anchor="t"/>
          <a:lstStyle/>
          <a:p>
            <a:pPr indent="0" marL="0">
              <a:buNone/>
            </a:pPr>
            <a:r>
              <a:rPr lang="en-US" sz="1400" dirty="0">
                <a:solidFill>
                  <a:schemeClr val="tx1"/>
                </a:solidFill>
              </a:rPr>
              <a:t>AI builds a profile: education, skills, interests, location and constraints.</a:t>
            </a:r>
            <a:endParaRPr lang="en-US" sz="1400" dirty="0"/>
          </a:p>
        </p:txBody>
      </p:sp>
      <p:sp>
        <p:nvSpPr>
          <p:cNvPr id="15" name="Step card 3"/>
          <p:cNvSpPr/>
          <p:nvPr/>
        </p:nvSpPr>
        <p:spPr>
          <a:xfrm>
            <a:off x="5029200" y="1371600"/>
            <a:ext cx="2103120" cy="3291840"/>
          </a:xfrm>
          <a:prstGeom prst="roundRect">
            <a:avLst>
              <a:gd name="adj" fmla="val 5217"/>
            </a:avLst>
          </a:prstGeom>
          <a:solidFill>
            <a:schemeClr val="bg2"/>
          </a:solidFill>
          <a:ln w="12700">
            <a:solidFill>
              <a:schemeClr val="bg2"/>
            </a:solidFill>
            <a:prstDash val="solid"/>
          </a:ln>
        </p:spPr>
      </p:sp>
      <p:sp>
        <p:nvSpPr>
          <p:cNvPr id="16" name="Step 3 circle"/>
          <p:cNvSpPr/>
          <p:nvPr/>
        </p:nvSpPr>
        <p:spPr>
          <a:xfrm>
            <a:off x="5212080" y="1554480"/>
            <a:ext cx="685800" cy="685800"/>
          </a:xfrm>
          <a:prstGeom prst="ellipse">
            <a:avLst/>
          </a:prstGeom>
          <a:solidFill>
            <a:schemeClr val="accent1"/>
          </a:solidFill>
          <a:ln w="12700">
            <a:solidFill>
              <a:schemeClr val="accent1"/>
            </a:solidFill>
            <a:prstDash val="solid"/>
          </a:ln>
        </p:spPr>
      </p:sp>
      <p:pic>
        <p:nvPicPr>
          <p:cNvPr id="17" name="Step 3 icon" descr="FaRoute">    </p:cNvPr>
          <p:cNvPicPr>
            <a:picLocks noChangeAspect="1"/>
          </p:cNvPicPr>
          <p:nvPr/>
        </p:nvPicPr>
        <p:blipFill>
          <a:blip r:embed="rId3"/>
          <a:stretch>
            <a:fillRect/>
          </a:stretch>
        </p:blipFill>
        <p:spPr>
          <a:xfrm>
            <a:off x="5390388" y="1732788"/>
            <a:ext cx="329184" cy="329184"/>
          </a:xfrm>
          <a:prstGeom prst="rect">
            <a:avLst/>
          </a:prstGeom>
        </p:spPr>
      </p:pic>
      <p:sp>
        <p:nvSpPr>
          <p:cNvPr id="18" name="Step number 3"/>
          <p:cNvSpPr txBox="1"/>
          <p:nvPr/>
        </p:nvSpPr>
        <p:spPr>
          <a:xfrm>
            <a:off x="6583680" y="1554480"/>
            <a:ext cx="365760" cy="457200"/>
          </a:xfrm>
          <a:prstGeom prst="rect">
            <a:avLst/>
          </a:prstGeom>
          <a:noFill/>
          <a:ln/>
        </p:spPr>
        <p:txBody>
          <a:bodyPr wrap="square" lIns="0" tIns="0" rIns="0" bIns="0" rtlCol="0" anchor="t"/>
          <a:lstStyle/>
          <a:p>
            <a:pPr algn="r" indent="0" marL="0">
              <a:buNone/>
            </a:pPr>
            <a:r>
              <a:rPr lang="en-US" sz="2800" b="1" dirty="0">
                <a:solidFill>
                  <a:schemeClr val="accent5"/>
                </a:solidFill>
                <a:latin typeface="+mj-lt" pitchFamily="34" charset="0"/>
                <a:ea typeface="+mj-lt" pitchFamily="34" charset="-122"/>
                <a:cs typeface="+mj-lt" pitchFamily="34" charset="-120"/>
              </a:rPr>
              <a:t>3</a:t>
            </a:r>
            <a:endParaRPr lang="en-US" sz="2800" dirty="0"/>
          </a:p>
        </p:txBody>
      </p:sp>
      <p:sp>
        <p:nvSpPr>
          <p:cNvPr id="19" name="Step title 3"/>
          <p:cNvSpPr txBox="1"/>
          <p:nvPr/>
        </p:nvSpPr>
        <p:spPr>
          <a:xfrm>
            <a:off x="5212080" y="2468880"/>
            <a:ext cx="1737360" cy="365760"/>
          </a:xfrm>
          <a:prstGeom prst="rect">
            <a:avLst/>
          </a:prstGeom>
          <a:noFill/>
          <a:ln/>
        </p:spPr>
        <p:txBody>
          <a:bodyPr wrap="square" lIns="0" tIns="0" rIns="0" bIns="0" rtlCol="0" anchor="t"/>
          <a:lstStyle/>
          <a:p>
            <a:pPr indent="0" marL="0">
              <a:buNone/>
            </a:pPr>
            <a:r>
              <a:rPr lang="en-US" sz="2000" b="1" dirty="0">
                <a:solidFill>
                  <a:schemeClr val="tx2"/>
                </a:solidFill>
              </a:rPr>
              <a:t>Match</a:t>
            </a:r>
            <a:endParaRPr lang="en-US" sz="2000" dirty="0"/>
          </a:p>
        </p:txBody>
      </p:sp>
      <p:sp>
        <p:nvSpPr>
          <p:cNvPr id="20" name="Step text 3"/>
          <p:cNvSpPr txBox="1"/>
          <p:nvPr/>
        </p:nvSpPr>
        <p:spPr>
          <a:xfrm>
            <a:off x="5212080" y="2926080"/>
            <a:ext cx="1783080" cy="1645920"/>
          </a:xfrm>
          <a:prstGeom prst="rect">
            <a:avLst/>
          </a:prstGeom>
          <a:noFill/>
          <a:ln/>
        </p:spPr>
        <p:txBody>
          <a:bodyPr wrap="square" lIns="0" tIns="0" rIns="0" bIns="0" rtlCol="0" anchor="t"/>
          <a:lstStyle/>
          <a:p>
            <a:pPr indent="0" marL="0">
              <a:buNone/>
            </a:pPr>
            <a:r>
              <a:rPr lang="en-US" sz="1400" dirty="0">
                <a:solidFill>
                  <a:schemeClr val="tx1"/>
                </a:solidFill>
              </a:rPr>
              <a:t>Finds the skill gap and ranks NSQF-aligned courses and pathways.</a:t>
            </a:r>
            <a:endParaRPr lang="en-US" sz="1400" dirty="0"/>
          </a:p>
        </p:txBody>
      </p:sp>
      <p:sp>
        <p:nvSpPr>
          <p:cNvPr id="21" name="Step card 4"/>
          <p:cNvSpPr/>
          <p:nvPr/>
        </p:nvSpPr>
        <p:spPr>
          <a:xfrm>
            <a:off x="7269480" y="1371600"/>
            <a:ext cx="2103120" cy="3291840"/>
          </a:xfrm>
          <a:prstGeom prst="roundRect">
            <a:avLst>
              <a:gd name="adj" fmla="val 5217"/>
            </a:avLst>
          </a:prstGeom>
          <a:solidFill>
            <a:schemeClr val="accent2">
              <a:alpha val="25000"/>
            </a:schemeClr>
          </a:solidFill>
          <a:ln w="12700">
            <a:solidFill>
              <a:schemeClr val="bg2"/>
            </a:solidFill>
            <a:prstDash val="solid"/>
          </a:ln>
        </p:spPr>
      </p:sp>
      <p:sp>
        <p:nvSpPr>
          <p:cNvPr id="22" name="Step 4 circle"/>
          <p:cNvSpPr/>
          <p:nvPr/>
        </p:nvSpPr>
        <p:spPr>
          <a:xfrm>
            <a:off x="7452360" y="1554480"/>
            <a:ext cx="685800" cy="685800"/>
          </a:xfrm>
          <a:prstGeom prst="ellipse">
            <a:avLst/>
          </a:prstGeom>
          <a:solidFill>
            <a:schemeClr val="accent2"/>
          </a:solidFill>
          <a:ln w="12700">
            <a:solidFill>
              <a:schemeClr val="accent2"/>
            </a:solidFill>
            <a:prstDash val="solid"/>
          </a:ln>
        </p:spPr>
      </p:sp>
      <p:pic>
        <p:nvPicPr>
          <p:cNvPr id="23" name="Step 4 icon" descr="FaSearch">    </p:cNvPr>
          <p:cNvPicPr>
            <a:picLocks noChangeAspect="1"/>
          </p:cNvPicPr>
          <p:nvPr/>
        </p:nvPicPr>
        <p:blipFill>
          <a:blip r:embed="rId4"/>
          <a:stretch>
            <a:fillRect/>
          </a:stretch>
        </p:blipFill>
        <p:spPr>
          <a:xfrm>
            <a:off x="7630668" y="1732788"/>
            <a:ext cx="329184" cy="329184"/>
          </a:xfrm>
          <a:prstGeom prst="rect">
            <a:avLst/>
          </a:prstGeom>
        </p:spPr>
      </p:pic>
      <p:sp>
        <p:nvSpPr>
          <p:cNvPr id="24" name="Step number 4"/>
          <p:cNvSpPr txBox="1"/>
          <p:nvPr/>
        </p:nvSpPr>
        <p:spPr>
          <a:xfrm>
            <a:off x="8823960" y="1554480"/>
            <a:ext cx="365760" cy="457200"/>
          </a:xfrm>
          <a:prstGeom prst="rect">
            <a:avLst/>
          </a:prstGeom>
          <a:noFill/>
          <a:ln/>
        </p:spPr>
        <p:txBody>
          <a:bodyPr wrap="square" lIns="0" tIns="0" rIns="0" bIns="0" rtlCol="0" anchor="t"/>
          <a:lstStyle/>
          <a:p>
            <a:pPr algn="r" indent="0" marL="0">
              <a:buNone/>
            </a:pPr>
            <a:r>
              <a:rPr lang="en-US" sz="2800" b="1" dirty="0">
                <a:solidFill>
                  <a:schemeClr val="accent5"/>
                </a:solidFill>
                <a:latin typeface="+mj-lt" pitchFamily="34" charset="0"/>
                <a:ea typeface="+mj-lt" pitchFamily="34" charset="-122"/>
                <a:cs typeface="+mj-lt" pitchFamily="34" charset="-120"/>
              </a:rPr>
              <a:t>4</a:t>
            </a:r>
            <a:endParaRPr lang="en-US" sz="2800" dirty="0"/>
          </a:p>
        </p:txBody>
      </p:sp>
      <p:sp>
        <p:nvSpPr>
          <p:cNvPr id="25" name="Step title 4"/>
          <p:cNvSpPr txBox="1"/>
          <p:nvPr/>
        </p:nvSpPr>
        <p:spPr>
          <a:xfrm>
            <a:off x="7452360" y="2468880"/>
            <a:ext cx="1737360" cy="365760"/>
          </a:xfrm>
          <a:prstGeom prst="rect">
            <a:avLst/>
          </a:prstGeom>
          <a:noFill/>
          <a:ln/>
        </p:spPr>
        <p:txBody>
          <a:bodyPr wrap="square" lIns="0" tIns="0" rIns="0" bIns="0" rtlCol="0" anchor="t"/>
          <a:lstStyle/>
          <a:p>
            <a:pPr indent="0" marL="0">
              <a:buNone/>
            </a:pPr>
            <a:r>
              <a:rPr lang="en-US" sz="2000" b="1" dirty="0">
                <a:solidFill>
                  <a:schemeClr val="tx2"/>
                </a:solidFill>
              </a:rPr>
              <a:t>Find live</a:t>
            </a:r>
            <a:endParaRPr lang="en-US" sz="2000" dirty="0"/>
          </a:p>
        </p:txBody>
      </p:sp>
      <p:sp>
        <p:nvSpPr>
          <p:cNvPr id="26" name="Step text 4"/>
          <p:cNvSpPr txBox="1"/>
          <p:nvPr/>
        </p:nvSpPr>
        <p:spPr>
          <a:xfrm>
            <a:off x="7452360" y="2926080"/>
            <a:ext cx="1783080" cy="1645920"/>
          </a:xfrm>
          <a:prstGeom prst="rect">
            <a:avLst/>
          </a:prstGeom>
          <a:noFill/>
          <a:ln/>
        </p:spPr>
        <p:txBody>
          <a:bodyPr wrap="square" lIns="0" tIns="0" rIns="0" bIns="0" rtlCol="0" anchor="t"/>
          <a:lstStyle/>
          <a:p>
            <a:pPr indent="0" marL="0">
              <a:buNone/>
            </a:pPr>
            <a:r>
              <a:rPr lang="en-US" sz="1400" dirty="0">
                <a:solidFill>
                  <a:schemeClr val="tx1"/>
                </a:solidFill>
              </a:rPr>
              <a:t>TinyFish searches live portals for open batches, jobs and apprenticeships nearby.</a:t>
            </a:r>
            <a:endParaRPr lang="en-US" sz="1400" dirty="0"/>
          </a:p>
        </p:txBody>
      </p:sp>
      <p:sp>
        <p:nvSpPr>
          <p:cNvPr id="27" name="Step card 5"/>
          <p:cNvSpPr/>
          <p:nvPr/>
        </p:nvSpPr>
        <p:spPr>
          <a:xfrm>
            <a:off x="9509760" y="1371600"/>
            <a:ext cx="2103120" cy="3291840"/>
          </a:xfrm>
          <a:prstGeom prst="roundRect">
            <a:avLst>
              <a:gd name="adj" fmla="val 5217"/>
            </a:avLst>
          </a:prstGeom>
          <a:solidFill>
            <a:schemeClr val="bg2"/>
          </a:solidFill>
          <a:ln w="12700">
            <a:solidFill>
              <a:schemeClr val="bg2"/>
            </a:solidFill>
            <a:prstDash val="solid"/>
          </a:ln>
        </p:spPr>
      </p:sp>
      <p:sp>
        <p:nvSpPr>
          <p:cNvPr id="28" name="Step 5 circle"/>
          <p:cNvSpPr/>
          <p:nvPr/>
        </p:nvSpPr>
        <p:spPr>
          <a:xfrm>
            <a:off x="9692640" y="1554480"/>
            <a:ext cx="685800" cy="685800"/>
          </a:xfrm>
          <a:prstGeom prst="ellipse">
            <a:avLst/>
          </a:prstGeom>
          <a:solidFill>
            <a:schemeClr val="accent1"/>
          </a:solidFill>
          <a:ln w="12700">
            <a:solidFill>
              <a:schemeClr val="accent1"/>
            </a:solidFill>
            <a:prstDash val="solid"/>
          </a:ln>
        </p:spPr>
      </p:sp>
      <p:pic>
        <p:nvPicPr>
          <p:cNvPr id="29" name="Step 5 icon" descr="FaFileSignature">    </p:cNvPr>
          <p:cNvPicPr>
            <a:picLocks noChangeAspect="1"/>
          </p:cNvPicPr>
          <p:nvPr/>
        </p:nvPicPr>
        <p:blipFill>
          <a:blip r:embed="rId5"/>
          <a:stretch>
            <a:fillRect/>
          </a:stretch>
        </p:blipFill>
        <p:spPr>
          <a:xfrm>
            <a:off x="9870948" y="1732788"/>
            <a:ext cx="329184" cy="329184"/>
          </a:xfrm>
          <a:prstGeom prst="rect">
            <a:avLst/>
          </a:prstGeom>
        </p:spPr>
      </p:pic>
      <p:sp>
        <p:nvSpPr>
          <p:cNvPr id="30" name="Step number 5"/>
          <p:cNvSpPr txBox="1"/>
          <p:nvPr/>
        </p:nvSpPr>
        <p:spPr>
          <a:xfrm>
            <a:off x="11064240" y="1554480"/>
            <a:ext cx="365760" cy="457200"/>
          </a:xfrm>
          <a:prstGeom prst="rect">
            <a:avLst/>
          </a:prstGeom>
          <a:noFill/>
          <a:ln/>
        </p:spPr>
        <p:txBody>
          <a:bodyPr wrap="square" lIns="0" tIns="0" rIns="0" bIns="0" rtlCol="0" anchor="t"/>
          <a:lstStyle/>
          <a:p>
            <a:pPr algn="r" indent="0" marL="0">
              <a:buNone/>
            </a:pPr>
            <a:r>
              <a:rPr lang="en-US" sz="2800" b="1" dirty="0">
                <a:solidFill>
                  <a:schemeClr val="accent5"/>
                </a:solidFill>
                <a:latin typeface="+mj-lt" pitchFamily="34" charset="0"/>
                <a:ea typeface="+mj-lt" pitchFamily="34" charset="-122"/>
                <a:cs typeface="+mj-lt" pitchFamily="34" charset="-120"/>
              </a:rPr>
              <a:t>5</a:t>
            </a:r>
            <a:endParaRPr lang="en-US" sz="2800" dirty="0"/>
          </a:p>
        </p:txBody>
      </p:sp>
      <p:sp>
        <p:nvSpPr>
          <p:cNvPr id="31" name="Step title 5"/>
          <p:cNvSpPr txBox="1"/>
          <p:nvPr/>
        </p:nvSpPr>
        <p:spPr>
          <a:xfrm>
            <a:off x="9692640" y="2468880"/>
            <a:ext cx="1737360" cy="365760"/>
          </a:xfrm>
          <a:prstGeom prst="rect">
            <a:avLst/>
          </a:prstGeom>
          <a:noFill/>
          <a:ln/>
        </p:spPr>
        <p:txBody>
          <a:bodyPr wrap="square" lIns="0" tIns="0" rIns="0" bIns="0" rtlCol="0" anchor="t"/>
          <a:lstStyle/>
          <a:p>
            <a:pPr indent="0" marL="0">
              <a:buNone/>
            </a:pPr>
            <a:r>
              <a:rPr lang="en-US" sz="2000" b="1" dirty="0">
                <a:solidFill>
                  <a:schemeClr val="tx2"/>
                </a:solidFill>
              </a:rPr>
              <a:t>Apply</a:t>
            </a:r>
            <a:endParaRPr lang="en-US" sz="2000" dirty="0"/>
          </a:p>
        </p:txBody>
      </p:sp>
      <p:sp>
        <p:nvSpPr>
          <p:cNvPr id="32" name="Step text 5"/>
          <p:cNvSpPr txBox="1"/>
          <p:nvPr/>
        </p:nvSpPr>
        <p:spPr>
          <a:xfrm>
            <a:off x="9692640" y="2926080"/>
            <a:ext cx="1783080" cy="1645920"/>
          </a:xfrm>
          <a:prstGeom prst="rect">
            <a:avLst/>
          </a:prstGeom>
          <a:noFill/>
          <a:ln/>
        </p:spPr>
        <p:txBody>
          <a:bodyPr wrap="square" lIns="0" tIns="0" rIns="0" bIns="0" rtlCol="0" anchor="t"/>
          <a:lstStyle/>
          <a:p>
            <a:pPr indent="0" marL="0">
              <a:buNone/>
            </a:pPr>
            <a:r>
              <a:rPr lang="en-US" sz="1400" dirty="0">
                <a:solidFill>
                  <a:schemeClr val="tx1"/>
                </a:solidFill>
              </a:rPr>
              <a:t>An agent pre-fills the registration. The user confirms before anything is submitted.</a:t>
            </a:r>
            <a:endParaRPr lang="en-US" sz="1400" dirty="0"/>
          </a:p>
        </p:txBody>
      </p:sp>
      <p:sp>
        <p:nvSpPr>
          <p:cNvPr id="33" name="Differentiator panel"/>
          <p:cNvSpPr/>
          <p:nvPr/>
        </p:nvSpPr>
        <p:spPr>
          <a:xfrm>
            <a:off x="548640" y="4937760"/>
            <a:ext cx="11064240" cy="1188720"/>
          </a:xfrm>
          <a:prstGeom prst="roundRect">
            <a:avLst>
              <a:gd name="adj" fmla="val 9231"/>
            </a:avLst>
          </a:prstGeom>
          <a:solidFill>
            <a:schemeClr val="tx2"/>
          </a:solidFill>
          <a:ln w="12700">
            <a:solidFill>
              <a:schemeClr val="bg2"/>
            </a:solidFill>
            <a:prstDash val="solid"/>
          </a:ln>
        </p:spPr>
      </p:sp>
      <p:sp>
        <p:nvSpPr>
          <p:cNvPr id="34" name="Differentiator text"/>
          <p:cNvSpPr txBox="1"/>
          <p:nvPr/>
        </p:nvSpPr>
        <p:spPr>
          <a:xfrm>
            <a:off x="822960" y="5074920"/>
            <a:ext cx="10515600" cy="914400"/>
          </a:xfrm>
          <a:prstGeom prst="rect">
            <a:avLst/>
          </a:prstGeom>
          <a:noFill/>
          <a:ln/>
        </p:spPr>
        <p:txBody>
          <a:bodyPr wrap="square" lIns="0" tIns="0" rIns="0" bIns="0" rtlCol="0" anchor="ctr"/>
          <a:lstStyle/>
          <a:p>
            <a:pPr indent="0" marL="0">
              <a:buNone/>
            </a:pPr>
            <a:r>
              <a:rPr lang="en-US" sz="2000" b="1" dirty="0">
                <a:solidFill>
                  <a:schemeClr val="accent2"/>
                </a:solidFill>
              </a:rPr>
              <a:t>Not a chatbot over a static dataset. </a:t>
            </a:r>
            <a:pPr indent="0" marL="0">
              <a:buNone/>
            </a:pPr>
            <a:r>
              <a:rPr lang="en-US" sz="2000" dirty="0">
                <a:solidFill>
                  <a:schemeClr val="bg1"/>
                </a:solidFill>
              </a:rPr>
              <a:t>Margdarshan works on the live web and takes action for people who cannot navigate portals on their own.</a:t>
            </a:r>
            <a:endParaRPr lang="en-US" sz="2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Who it serves</a:t>
            </a:r>
            <a:endParaRPr lang="en-US" sz="3200" dirty="0"/>
          </a:p>
        </p:txBody>
      </p:sp>
      <p:sp>
        <p:nvSpPr>
          <p:cNvPr id="3" name="Primary heading"/>
          <p:cNvSpPr txBox="1"/>
          <p:nvPr/>
        </p:nvSpPr>
        <p:spPr>
          <a:xfrm>
            <a:off x="548640" y="1325880"/>
            <a:ext cx="5486400" cy="365760"/>
          </a:xfrm>
          <a:prstGeom prst="rect">
            <a:avLst/>
          </a:prstGeom>
          <a:noFill/>
          <a:ln/>
        </p:spPr>
        <p:txBody>
          <a:bodyPr wrap="square" lIns="0" tIns="0" rIns="0" bIns="0" rtlCol="0" anchor="t"/>
          <a:lstStyle/>
          <a:p>
            <a:pPr indent="0" marL="0">
              <a:buNone/>
            </a:pPr>
            <a:r>
              <a:rPr lang="en-US" sz="2000" b="1" dirty="0">
                <a:solidFill>
                  <a:schemeClr val="tx2"/>
                </a:solidFill>
              </a:rPr>
              <a:t>Primary users</a:t>
            </a:r>
            <a:endParaRPr lang="en-US" sz="2000" dirty="0"/>
          </a:p>
        </p:txBody>
      </p:sp>
      <p:sp>
        <p:nvSpPr>
          <p:cNvPr id="4" name="User card 1"/>
          <p:cNvSpPr/>
          <p:nvPr/>
        </p:nvSpPr>
        <p:spPr>
          <a:xfrm>
            <a:off x="548640" y="1783080"/>
            <a:ext cx="5669280" cy="960120"/>
          </a:xfrm>
          <a:prstGeom prst="roundRect">
            <a:avLst>
              <a:gd name="adj" fmla="val 11429"/>
            </a:avLst>
          </a:prstGeom>
          <a:solidFill>
            <a:schemeClr val="bg2"/>
          </a:solidFill>
          <a:ln w="12700">
            <a:solidFill>
              <a:schemeClr val="bg2"/>
            </a:solidFill>
            <a:prstDash val="solid"/>
          </a:ln>
        </p:spPr>
      </p:sp>
      <p:sp>
        <p:nvSpPr>
          <p:cNvPr id="5" name="User 1 circle"/>
          <p:cNvSpPr/>
          <p:nvPr/>
        </p:nvSpPr>
        <p:spPr>
          <a:xfrm>
            <a:off x="731520" y="1956816"/>
            <a:ext cx="612648" cy="612648"/>
          </a:xfrm>
          <a:prstGeom prst="ellipse">
            <a:avLst/>
          </a:prstGeom>
          <a:solidFill>
            <a:schemeClr val="accent1"/>
          </a:solidFill>
          <a:ln w="12700">
            <a:solidFill>
              <a:schemeClr val="accent1"/>
            </a:solidFill>
            <a:prstDash val="solid"/>
          </a:ln>
        </p:spPr>
      </p:sp>
      <p:pic>
        <p:nvPicPr>
          <p:cNvPr id="6" name="User 1 icon" descr="FaWalking">    </p:cNvPr>
          <p:cNvPicPr>
            <a:picLocks noChangeAspect="1"/>
          </p:cNvPicPr>
          <p:nvPr/>
        </p:nvPicPr>
        <p:blipFill>
          <a:blip r:embed="rId1"/>
          <a:stretch>
            <a:fillRect/>
          </a:stretch>
        </p:blipFill>
        <p:spPr>
          <a:xfrm>
            <a:off x="890808" y="2116104"/>
            <a:ext cx="294071" cy="294071"/>
          </a:xfrm>
          <a:prstGeom prst="rect">
            <a:avLst/>
          </a:prstGeom>
        </p:spPr>
      </p:pic>
      <p:sp>
        <p:nvSpPr>
          <p:cNvPr id="7" name="User title 1"/>
          <p:cNvSpPr txBox="1"/>
          <p:nvPr/>
        </p:nvSpPr>
        <p:spPr>
          <a:xfrm>
            <a:off x="1554480" y="1911096"/>
            <a:ext cx="4572000" cy="320040"/>
          </a:xfrm>
          <a:prstGeom prst="rect">
            <a:avLst/>
          </a:prstGeom>
          <a:noFill/>
          <a:ln/>
        </p:spPr>
        <p:txBody>
          <a:bodyPr wrap="square" lIns="0" tIns="0" rIns="0" bIns="0" rtlCol="0" anchor="t"/>
          <a:lstStyle/>
          <a:p>
            <a:pPr indent="0" marL="0">
              <a:buNone/>
            </a:pPr>
            <a:r>
              <a:rPr lang="en-US" sz="1600" b="1" dirty="0">
                <a:solidFill>
                  <a:schemeClr val="tx2"/>
                </a:solidFill>
              </a:rPr>
              <a:t>Low-literacy job seekers</a:t>
            </a:r>
            <a:endParaRPr lang="en-US" sz="1600" dirty="0"/>
          </a:p>
        </p:txBody>
      </p:sp>
      <p:sp>
        <p:nvSpPr>
          <p:cNvPr id="8" name="User text 1"/>
          <p:cNvSpPr txBox="1"/>
          <p:nvPr/>
        </p:nvSpPr>
        <p:spPr>
          <a:xfrm>
            <a:off x="1554480" y="2258568"/>
            <a:ext cx="4572000" cy="411480"/>
          </a:xfrm>
          <a:prstGeom prst="rect">
            <a:avLst/>
          </a:prstGeom>
          <a:noFill/>
          <a:ln/>
        </p:spPr>
        <p:txBody>
          <a:bodyPr wrap="square" lIns="0" tIns="0" rIns="0" bIns="0" rtlCol="0" anchor="t"/>
          <a:lstStyle/>
          <a:p>
            <a:pPr indent="0" marL="0">
              <a:buNone/>
            </a:pPr>
            <a:r>
              <a:rPr lang="en-US" sz="1400" dirty="0">
                <a:solidFill>
                  <a:schemeClr val="tx1"/>
                </a:solidFill>
              </a:rPr>
              <a:t>Rural and semi-urban youth who struggle with text-heavy portals</a:t>
            </a:r>
            <a:endParaRPr lang="en-US" sz="1400" dirty="0"/>
          </a:p>
        </p:txBody>
      </p:sp>
      <p:sp>
        <p:nvSpPr>
          <p:cNvPr id="9" name="User card 2"/>
          <p:cNvSpPr/>
          <p:nvPr/>
        </p:nvSpPr>
        <p:spPr>
          <a:xfrm>
            <a:off x="548640" y="2862072"/>
            <a:ext cx="5669280" cy="960120"/>
          </a:xfrm>
          <a:prstGeom prst="roundRect">
            <a:avLst>
              <a:gd name="adj" fmla="val 11429"/>
            </a:avLst>
          </a:prstGeom>
          <a:solidFill>
            <a:schemeClr val="bg2"/>
          </a:solidFill>
          <a:ln w="12700">
            <a:solidFill>
              <a:schemeClr val="bg2"/>
            </a:solidFill>
            <a:prstDash val="solid"/>
          </a:ln>
        </p:spPr>
      </p:sp>
      <p:sp>
        <p:nvSpPr>
          <p:cNvPr id="10" name="User 2 circle"/>
          <p:cNvSpPr/>
          <p:nvPr/>
        </p:nvSpPr>
        <p:spPr>
          <a:xfrm>
            <a:off x="731520" y="3035808"/>
            <a:ext cx="612648" cy="612648"/>
          </a:xfrm>
          <a:prstGeom prst="ellipse">
            <a:avLst/>
          </a:prstGeom>
          <a:solidFill>
            <a:schemeClr val="accent1"/>
          </a:solidFill>
          <a:ln w="12700">
            <a:solidFill>
              <a:schemeClr val="accent1"/>
            </a:solidFill>
            <a:prstDash val="solid"/>
          </a:ln>
        </p:spPr>
      </p:sp>
      <p:pic>
        <p:nvPicPr>
          <p:cNvPr id="11" name="User 2 icon" descr="FaGraduationCap">    </p:cNvPr>
          <p:cNvPicPr>
            <a:picLocks noChangeAspect="1"/>
          </p:cNvPicPr>
          <p:nvPr/>
        </p:nvPicPr>
        <p:blipFill>
          <a:blip r:embed="rId2"/>
          <a:stretch>
            <a:fillRect/>
          </a:stretch>
        </p:blipFill>
        <p:spPr>
          <a:xfrm>
            <a:off x="890808" y="3195096"/>
            <a:ext cx="294071" cy="294071"/>
          </a:xfrm>
          <a:prstGeom prst="rect">
            <a:avLst/>
          </a:prstGeom>
        </p:spPr>
      </p:pic>
      <p:sp>
        <p:nvSpPr>
          <p:cNvPr id="12" name="User title 2"/>
          <p:cNvSpPr txBox="1"/>
          <p:nvPr/>
        </p:nvSpPr>
        <p:spPr>
          <a:xfrm>
            <a:off x="1554480" y="2990088"/>
            <a:ext cx="4572000" cy="320040"/>
          </a:xfrm>
          <a:prstGeom prst="rect">
            <a:avLst/>
          </a:prstGeom>
          <a:noFill/>
          <a:ln/>
        </p:spPr>
        <p:txBody>
          <a:bodyPr wrap="square" lIns="0" tIns="0" rIns="0" bIns="0" rtlCol="0" anchor="t"/>
          <a:lstStyle/>
          <a:p>
            <a:pPr indent="0" marL="0">
              <a:buNone/>
            </a:pPr>
            <a:r>
              <a:rPr lang="en-US" sz="1600" b="1" dirty="0">
                <a:solidFill>
                  <a:schemeClr val="tx2"/>
                </a:solidFill>
              </a:rPr>
              <a:t>Dropouts and first-generation learners</a:t>
            </a:r>
            <a:endParaRPr lang="en-US" sz="1600" dirty="0"/>
          </a:p>
        </p:txBody>
      </p:sp>
      <p:sp>
        <p:nvSpPr>
          <p:cNvPr id="13" name="User text 2"/>
          <p:cNvSpPr txBox="1"/>
          <p:nvPr/>
        </p:nvSpPr>
        <p:spPr>
          <a:xfrm>
            <a:off x="1554480" y="3337560"/>
            <a:ext cx="4572000" cy="411480"/>
          </a:xfrm>
          <a:prstGeom prst="rect">
            <a:avLst/>
          </a:prstGeom>
          <a:noFill/>
          <a:ln/>
        </p:spPr>
        <p:txBody>
          <a:bodyPr wrap="square" lIns="0" tIns="0" rIns="0" bIns="0" rtlCol="0" anchor="t"/>
          <a:lstStyle/>
          <a:p>
            <a:pPr indent="0" marL="0">
              <a:buNone/>
            </a:pPr>
            <a:r>
              <a:rPr lang="en-US" sz="1400" dirty="0">
                <a:solidFill>
                  <a:schemeClr val="tx1"/>
                </a:solidFill>
              </a:rPr>
              <a:t>People who need a course that fits their level, time and budget</a:t>
            </a:r>
            <a:endParaRPr lang="en-US" sz="1400" dirty="0"/>
          </a:p>
        </p:txBody>
      </p:sp>
      <p:sp>
        <p:nvSpPr>
          <p:cNvPr id="14" name="User card 3"/>
          <p:cNvSpPr/>
          <p:nvPr/>
        </p:nvSpPr>
        <p:spPr>
          <a:xfrm>
            <a:off x="548640" y="3941064"/>
            <a:ext cx="5669280" cy="960120"/>
          </a:xfrm>
          <a:prstGeom prst="roundRect">
            <a:avLst>
              <a:gd name="adj" fmla="val 11429"/>
            </a:avLst>
          </a:prstGeom>
          <a:solidFill>
            <a:schemeClr val="bg2"/>
          </a:solidFill>
          <a:ln w="12700">
            <a:solidFill>
              <a:schemeClr val="bg2"/>
            </a:solidFill>
            <a:prstDash val="solid"/>
          </a:ln>
        </p:spPr>
      </p:sp>
      <p:sp>
        <p:nvSpPr>
          <p:cNvPr id="15" name="User 3 circle"/>
          <p:cNvSpPr/>
          <p:nvPr/>
        </p:nvSpPr>
        <p:spPr>
          <a:xfrm>
            <a:off x="731520" y="4114800"/>
            <a:ext cx="612648" cy="612648"/>
          </a:xfrm>
          <a:prstGeom prst="ellipse">
            <a:avLst/>
          </a:prstGeom>
          <a:solidFill>
            <a:schemeClr val="accent1"/>
          </a:solidFill>
          <a:ln w="12700">
            <a:solidFill>
              <a:schemeClr val="accent1"/>
            </a:solidFill>
            <a:prstDash val="solid"/>
          </a:ln>
        </p:spPr>
      </p:sp>
      <p:pic>
        <p:nvPicPr>
          <p:cNvPr id="16" name="User 3 icon" descr="FaFemale">    </p:cNvPr>
          <p:cNvPicPr>
            <a:picLocks noChangeAspect="1"/>
          </p:cNvPicPr>
          <p:nvPr/>
        </p:nvPicPr>
        <p:blipFill>
          <a:blip r:embed="rId3"/>
          <a:stretch>
            <a:fillRect/>
          </a:stretch>
        </p:blipFill>
        <p:spPr>
          <a:xfrm>
            <a:off x="890808" y="4274088"/>
            <a:ext cx="294071" cy="294071"/>
          </a:xfrm>
          <a:prstGeom prst="rect">
            <a:avLst/>
          </a:prstGeom>
        </p:spPr>
      </p:pic>
      <p:sp>
        <p:nvSpPr>
          <p:cNvPr id="17" name="User title 3"/>
          <p:cNvSpPr txBox="1"/>
          <p:nvPr/>
        </p:nvSpPr>
        <p:spPr>
          <a:xfrm>
            <a:off x="1554480" y="4069080"/>
            <a:ext cx="4572000" cy="320040"/>
          </a:xfrm>
          <a:prstGeom prst="rect">
            <a:avLst/>
          </a:prstGeom>
          <a:noFill/>
          <a:ln/>
        </p:spPr>
        <p:txBody>
          <a:bodyPr wrap="square" lIns="0" tIns="0" rIns="0" bIns="0" rtlCol="0" anchor="t"/>
          <a:lstStyle/>
          <a:p>
            <a:pPr indent="0" marL="0">
              <a:buNone/>
            </a:pPr>
            <a:r>
              <a:rPr lang="en-US" sz="1600" b="1" dirty="0">
                <a:solidFill>
                  <a:schemeClr val="tx2"/>
                </a:solidFill>
              </a:rPr>
              <a:t>Women and SC/ST beneficiaries</a:t>
            </a:r>
            <a:endParaRPr lang="en-US" sz="1600" dirty="0"/>
          </a:p>
        </p:txBody>
      </p:sp>
      <p:sp>
        <p:nvSpPr>
          <p:cNvPr id="18" name="User text 3"/>
          <p:cNvSpPr txBox="1"/>
          <p:nvPr/>
        </p:nvSpPr>
        <p:spPr>
          <a:xfrm>
            <a:off x="1554480" y="4416552"/>
            <a:ext cx="4572000" cy="411480"/>
          </a:xfrm>
          <a:prstGeom prst="rect">
            <a:avLst/>
          </a:prstGeom>
          <a:noFill/>
          <a:ln/>
        </p:spPr>
        <p:txBody>
          <a:bodyPr wrap="square" lIns="0" tIns="0" rIns="0" bIns="0" rtlCol="0" anchor="t"/>
          <a:lstStyle/>
          <a:p>
            <a:pPr indent="0" marL="0">
              <a:buNone/>
            </a:pPr>
            <a:r>
              <a:rPr lang="en-US" sz="1400" dirty="0">
                <a:solidFill>
                  <a:schemeClr val="tx1"/>
                </a:solidFill>
              </a:rPr>
              <a:t>Including PM-AJAY beneficiaries, one of our deployment settings</a:t>
            </a:r>
            <a:endParaRPr lang="en-US" sz="1400" dirty="0"/>
          </a:p>
        </p:txBody>
      </p:sp>
      <p:sp>
        <p:nvSpPr>
          <p:cNvPr id="19" name="User card 4"/>
          <p:cNvSpPr/>
          <p:nvPr/>
        </p:nvSpPr>
        <p:spPr>
          <a:xfrm>
            <a:off x="548640" y="5020056"/>
            <a:ext cx="5669280" cy="960120"/>
          </a:xfrm>
          <a:prstGeom prst="roundRect">
            <a:avLst>
              <a:gd name="adj" fmla="val 11429"/>
            </a:avLst>
          </a:prstGeom>
          <a:solidFill>
            <a:schemeClr val="bg2"/>
          </a:solidFill>
          <a:ln w="12700">
            <a:solidFill>
              <a:schemeClr val="bg2"/>
            </a:solidFill>
            <a:prstDash val="solid"/>
          </a:ln>
        </p:spPr>
      </p:sp>
      <p:sp>
        <p:nvSpPr>
          <p:cNvPr id="20" name="User 4 circle"/>
          <p:cNvSpPr/>
          <p:nvPr/>
        </p:nvSpPr>
        <p:spPr>
          <a:xfrm>
            <a:off x="731520" y="5193792"/>
            <a:ext cx="612648" cy="612648"/>
          </a:xfrm>
          <a:prstGeom prst="ellipse">
            <a:avLst/>
          </a:prstGeom>
          <a:solidFill>
            <a:schemeClr val="accent1"/>
          </a:solidFill>
          <a:ln w="12700">
            <a:solidFill>
              <a:schemeClr val="accent1"/>
            </a:solidFill>
            <a:prstDash val="solid"/>
          </a:ln>
        </p:spPr>
      </p:sp>
      <p:pic>
        <p:nvPicPr>
          <p:cNvPr id="21" name="User 4 icon" descr="FaBriefcase">    </p:cNvPr>
          <p:cNvPicPr>
            <a:picLocks noChangeAspect="1"/>
          </p:cNvPicPr>
          <p:nvPr/>
        </p:nvPicPr>
        <p:blipFill>
          <a:blip r:embed="rId4"/>
          <a:stretch>
            <a:fillRect/>
          </a:stretch>
        </p:blipFill>
        <p:spPr>
          <a:xfrm>
            <a:off x="890808" y="5353080"/>
            <a:ext cx="294071" cy="294071"/>
          </a:xfrm>
          <a:prstGeom prst="rect">
            <a:avLst/>
          </a:prstGeom>
        </p:spPr>
      </p:pic>
      <p:sp>
        <p:nvSpPr>
          <p:cNvPr id="22" name="User title 4"/>
          <p:cNvSpPr txBox="1"/>
          <p:nvPr/>
        </p:nvSpPr>
        <p:spPr>
          <a:xfrm>
            <a:off x="1554480" y="5148072"/>
            <a:ext cx="4572000" cy="320040"/>
          </a:xfrm>
          <a:prstGeom prst="rect">
            <a:avLst/>
          </a:prstGeom>
          <a:noFill/>
          <a:ln/>
        </p:spPr>
        <p:txBody>
          <a:bodyPr wrap="square" lIns="0" tIns="0" rIns="0" bIns="0" rtlCol="0" anchor="t"/>
          <a:lstStyle/>
          <a:p>
            <a:pPr indent="0" marL="0">
              <a:buNone/>
            </a:pPr>
            <a:r>
              <a:rPr lang="en-US" sz="1600" b="1" dirty="0">
                <a:solidFill>
                  <a:schemeClr val="tx2"/>
                </a:solidFill>
              </a:rPr>
              <a:t>Migrant and returning workers</a:t>
            </a:r>
            <a:endParaRPr lang="en-US" sz="1600" dirty="0"/>
          </a:p>
        </p:txBody>
      </p:sp>
      <p:sp>
        <p:nvSpPr>
          <p:cNvPr id="23" name="User text 4"/>
          <p:cNvSpPr txBox="1"/>
          <p:nvPr/>
        </p:nvSpPr>
        <p:spPr>
          <a:xfrm>
            <a:off x="1554480" y="5495544"/>
            <a:ext cx="4572000" cy="411480"/>
          </a:xfrm>
          <a:prstGeom prst="rect">
            <a:avLst/>
          </a:prstGeom>
          <a:noFill/>
          <a:ln/>
        </p:spPr>
        <p:txBody>
          <a:bodyPr wrap="square" lIns="0" tIns="0" rIns="0" bIns="0" rtlCol="0" anchor="t"/>
          <a:lstStyle/>
          <a:p>
            <a:pPr indent="0" marL="0">
              <a:buNone/>
            </a:pPr>
            <a:r>
              <a:rPr lang="en-US" sz="1400" dirty="0">
                <a:solidFill>
                  <a:schemeClr val="tx1"/>
                </a:solidFill>
              </a:rPr>
              <a:t>People looking for local work or a new trade close to home</a:t>
            </a:r>
            <a:endParaRPr lang="en-US" sz="1400" dirty="0"/>
          </a:p>
        </p:txBody>
      </p:sp>
      <p:sp>
        <p:nvSpPr>
          <p:cNvPr id="24" name="Institutions heading"/>
          <p:cNvSpPr txBox="1"/>
          <p:nvPr/>
        </p:nvSpPr>
        <p:spPr>
          <a:xfrm>
            <a:off x="6492240" y="1325880"/>
            <a:ext cx="5120640" cy="365760"/>
          </a:xfrm>
          <a:prstGeom prst="rect">
            <a:avLst/>
          </a:prstGeom>
          <a:noFill/>
          <a:ln/>
        </p:spPr>
        <p:txBody>
          <a:bodyPr wrap="square" lIns="0" tIns="0" rIns="0" bIns="0" rtlCol="0" anchor="t"/>
          <a:lstStyle/>
          <a:p>
            <a:pPr indent="0" marL="0">
              <a:buNone/>
            </a:pPr>
            <a:r>
              <a:rPr lang="en-US" sz="2000" b="1" dirty="0">
                <a:solidFill>
                  <a:schemeClr val="tx2"/>
                </a:solidFill>
              </a:rPr>
              <a:t>Institutions we also serve</a:t>
            </a:r>
            <a:endParaRPr lang="en-US" sz="2000" dirty="0"/>
          </a:p>
        </p:txBody>
      </p:sp>
      <p:sp>
        <p:nvSpPr>
          <p:cNvPr id="25" name="Institutions card"/>
          <p:cNvSpPr/>
          <p:nvPr/>
        </p:nvSpPr>
        <p:spPr>
          <a:xfrm>
            <a:off x="6492240" y="1783080"/>
            <a:ext cx="5120640" cy="1691640"/>
          </a:xfrm>
          <a:prstGeom prst="roundRect">
            <a:avLst>
              <a:gd name="adj" fmla="val 6486"/>
            </a:avLst>
          </a:prstGeom>
          <a:solidFill>
            <a:schemeClr val="bg2"/>
          </a:solidFill>
          <a:ln w="12700">
            <a:solidFill>
              <a:schemeClr val="bg2"/>
            </a:solidFill>
            <a:prstDash val="solid"/>
          </a:ln>
        </p:spPr>
      </p:sp>
      <p:sp>
        <p:nvSpPr>
          <p:cNvPr id="26" name="Institutions text"/>
          <p:cNvSpPr txBox="1"/>
          <p:nvPr/>
        </p:nvSpPr>
        <p:spPr>
          <a:xfrm>
            <a:off x="6720840" y="1920240"/>
            <a:ext cx="4663440" cy="14173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rPr>
              <a:t>Training partners and skill centres: fill batches with matched learners</a:t>
            </a:r>
            <a:endParaRPr lang="en-US" sz="1400" dirty="0"/>
          </a:p>
          <a:p>
            <a:pPr marL="342900" indent="-342900">
              <a:spcAft>
                <a:spcPts val="800"/>
              </a:spcAft>
              <a:buSzPct val="100000"/>
              <a:buChar char="•"/>
            </a:pPr>
            <a:r>
              <a:rPr lang="en-US" sz="1400" dirty="0">
                <a:solidFill>
                  <a:schemeClr val="tx1"/>
                </a:solidFill>
              </a:rPr>
              <a:t>CSCs, NGOs and district skill offices: assisted access and anonymised demand data</a:t>
            </a:r>
            <a:endParaRPr lang="en-US" sz="1400" dirty="0"/>
          </a:p>
        </p:txBody>
      </p:sp>
      <p:sp>
        <p:nvSpPr>
          <p:cNvPr id="27" name="Scenario card"/>
          <p:cNvSpPr/>
          <p:nvPr/>
        </p:nvSpPr>
        <p:spPr>
          <a:xfrm>
            <a:off x="6492240" y="3703320"/>
            <a:ext cx="5120640" cy="2423160"/>
          </a:xfrm>
          <a:prstGeom prst="roundRect">
            <a:avLst>
              <a:gd name="adj" fmla="val 4528"/>
            </a:avLst>
          </a:prstGeom>
          <a:solidFill>
            <a:schemeClr val="accent2">
              <a:alpha val="20000"/>
            </a:schemeClr>
          </a:solidFill>
          <a:ln w="12700">
            <a:solidFill>
              <a:schemeClr val="bg2"/>
            </a:solidFill>
            <a:prstDash val="solid"/>
          </a:ln>
        </p:spPr>
      </p:sp>
      <p:sp>
        <p:nvSpPr>
          <p:cNvPr id="28" name="Scenario circle"/>
          <p:cNvSpPr/>
          <p:nvPr/>
        </p:nvSpPr>
        <p:spPr>
          <a:xfrm>
            <a:off x="6720840" y="3886200"/>
            <a:ext cx="502920" cy="502920"/>
          </a:xfrm>
          <a:prstGeom prst="ellipse">
            <a:avLst/>
          </a:prstGeom>
          <a:solidFill>
            <a:schemeClr val="accent2"/>
          </a:solidFill>
          <a:ln w="12700">
            <a:solidFill>
              <a:schemeClr val="accent2"/>
            </a:solidFill>
            <a:prstDash val="solid"/>
          </a:ln>
        </p:spPr>
      </p:sp>
      <p:pic>
        <p:nvPicPr>
          <p:cNvPr id="29" name="Scenario icon" descr="FaLightbulb">    </p:cNvPr>
          <p:cNvPicPr>
            <a:picLocks noChangeAspect="1"/>
          </p:cNvPicPr>
          <p:nvPr/>
        </p:nvPicPr>
        <p:blipFill>
          <a:blip r:embed="rId5"/>
          <a:stretch>
            <a:fillRect/>
          </a:stretch>
        </p:blipFill>
        <p:spPr>
          <a:xfrm>
            <a:off x="6851599" y="4016959"/>
            <a:ext cx="241402" cy="241402"/>
          </a:xfrm>
          <a:prstGeom prst="rect">
            <a:avLst/>
          </a:prstGeom>
        </p:spPr>
      </p:pic>
      <p:sp>
        <p:nvSpPr>
          <p:cNvPr id="30" name="Scenario heading"/>
          <p:cNvSpPr txBox="1"/>
          <p:nvPr/>
        </p:nvSpPr>
        <p:spPr>
          <a:xfrm>
            <a:off x="7406640" y="3977640"/>
            <a:ext cx="4023360" cy="365760"/>
          </a:xfrm>
          <a:prstGeom prst="rect">
            <a:avLst/>
          </a:prstGeom>
          <a:noFill/>
          <a:ln/>
        </p:spPr>
        <p:txBody>
          <a:bodyPr wrap="square" lIns="0" tIns="0" rIns="0" bIns="0" rtlCol="0" anchor="t"/>
          <a:lstStyle/>
          <a:p>
            <a:pPr indent="0" marL="0">
              <a:buNone/>
            </a:pPr>
            <a:r>
              <a:rPr lang="en-US" sz="1800" b="1" dirty="0">
                <a:solidFill>
                  <a:schemeClr val="tx2"/>
                </a:solidFill>
              </a:rPr>
              <a:t>Illustrative scenario</a:t>
            </a:r>
            <a:endParaRPr lang="en-US" sz="1800" dirty="0"/>
          </a:p>
        </p:txBody>
      </p:sp>
      <p:sp>
        <p:nvSpPr>
          <p:cNvPr id="31" name="Scenario text"/>
          <p:cNvSpPr txBox="1"/>
          <p:nvPr/>
        </p:nvSpPr>
        <p:spPr>
          <a:xfrm>
            <a:off x="6720840" y="4572000"/>
            <a:ext cx="4663440" cy="1463040"/>
          </a:xfrm>
          <a:prstGeom prst="rect">
            <a:avLst/>
          </a:prstGeom>
          <a:noFill/>
          <a:ln/>
        </p:spPr>
        <p:txBody>
          <a:bodyPr wrap="square" lIns="0" tIns="0" rIns="0" bIns="0" rtlCol="0" anchor="t"/>
          <a:lstStyle/>
          <a:p>
            <a:pPr indent="0" marL="0">
              <a:buNone/>
            </a:pPr>
            <a:r>
              <a:rPr lang="en-US" sz="1400" dirty="0">
                <a:solidFill>
                  <a:schemeClr val="tx1"/>
                </a:solidFill>
              </a:rPr>
              <a:t>A 19-year-old Class 10 dropout speaks in Hindi: she wants work near home and can train for only three months. Margdarshan finds short NSQF courses with open batches nearby, shows matching apprenticeships, and starts the registration once she says yes.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Role of AI and technical approach</a:t>
            </a:r>
            <a:endParaRPr lang="en-US" sz="3200" dirty="0"/>
          </a:p>
        </p:txBody>
      </p:sp>
      <p:sp>
        <p:nvSpPr>
          <p:cNvPr id="3" name="Flow box 1"/>
          <p:cNvSpPr/>
          <p:nvPr/>
        </p:nvSpPr>
        <p:spPr>
          <a:xfrm>
            <a:off x="548640" y="1371600"/>
            <a:ext cx="2011680" cy="1280160"/>
          </a:xfrm>
          <a:prstGeom prst="roundRect">
            <a:avLst>
              <a:gd name="adj" fmla="val 8571"/>
            </a:avLst>
          </a:prstGeom>
          <a:solidFill>
            <a:schemeClr val="tx2"/>
          </a:solidFill>
          <a:ln w="12700">
            <a:solidFill>
              <a:schemeClr val="bg2"/>
            </a:solidFill>
            <a:prstDash val="solid"/>
          </a:ln>
        </p:spPr>
      </p:sp>
      <p:sp>
        <p:nvSpPr>
          <p:cNvPr id="4" name="Flow title 1"/>
          <p:cNvSpPr txBox="1"/>
          <p:nvPr/>
        </p:nvSpPr>
        <p:spPr>
          <a:xfrm>
            <a:off x="685800" y="1508760"/>
            <a:ext cx="1737360" cy="365760"/>
          </a:xfrm>
          <a:prstGeom prst="rect">
            <a:avLst/>
          </a:prstGeom>
          <a:noFill/>
          <a:ln/>
        </p:spPr>
        <p:txBody>
          <a:bodyPr wrap="square" lIns="0" tIns="0" rIns="0" bIns="0" rtlCol="0" anchor="t"/>
          <a:lstStyle/>
          <a:p>
            <a:pPr algn="ctr" indent="0" marL="0">
              <a:buNone/>
            </a:pPr>
            <a:r>
              <a:rPr lang="en-US" sz="1800" b="1" dirty="0">
                <a:solidFill>
                  <a:schemeClr val="bg1"/>
                </a:solidFill>
              </a:rPr>
              <a:t>Voice in</a:t>
            </a:r>
            <a:endParaRPr lang="en-US" sz="1800" dirty="0"/>
          </a:p>
        </p:txBody>
      </p:sp>
      <p:sp>
        <p:nvSpPr>
          <p:cNvPr id="5" name="Flow text 1"/>
          <p:cNvSpPr txBox="1"/>
          <p:nvPr/>
        </p:nvSpPr>
        <p:spPr>
          <a:xfrm>
            <a:off x="685800" y="1965960"/>
            <a:ext cx="1737360" cy="594360"/>
          </a:xfrm>
          <a:prstGeom prst="rect">
            <a:avLst/>
          </a:prstGeom>
          <a:noFill/>
          <a:ln/>
        </p:spPr>
        <p:txBody>
          <a:bodyPr wrap="square" lIns="0" tIns="0" rIns="0" bIns="0" rtlCol="0" anchor="t"/>
          <a:lstStyle/>
          <a:p>
            <a:pPr algn="ctr" indent="0" marL="0">
              <a:buNone/>
            </a:pPr>
            <a:r>
              <a:rPr lang="en-US" sz="1400" dirty="0">
                <a:solidFill>
                  <a:schemeClr val="bg2"/>
                </a:solidFill>
              </a:rPr>
              <a:t>Indic speech-to-text</a:t>
            </a:r>
            <a:endParaRPr lang="en-US" sz="1400" dirty="0"/>
          </a:p>
        </p:txBody>
      </p:sp>
      <p:sp>
        <p:nvSpPr>
          <p:cNvPr id="6" name="Flow arrow 1"/>
          <p:cNvSpPr/>
          <p:nvPr/>
        </p:nvSpPr>
        <p:spPr>
          <a:xfrm>
            <a:off x="2578608" y="1874520"/>
            <a:ext cx="210312" cy="274320"/>
          </a:xfrm>
          <a:prstGeom prst="rightArrow">
            <a:avLst/>
          </a:prstGeom>
          <a:solidFill>
            <a:schemeClr val="accent5"/>
          </a:solidFill>
          <a:ln w="12700">
            <a:solidFill>
              <a:schemeClr val="accent5"/>
            </a:solidFill>
            <a:prstDash val="solid"/>
          </a:ln>
        </p:spPr>
      </p:sp>
      <p:sp>
        <p:nvSpPr>
          <p:cNvPr id="7" name="Flow box 2"/>
          <p:cNvSpPr/>
          <p:nvPr/>
        </p:nvSpPr>
        <p:spPr>
          <a:xfrm>
            <a:off x="2807208" y="1371600"/>
            <a:ext cx="2011680" cy="1280160"/>
          </a:xfrm>
          <a:prstGeom prst="roundRect">
            <a:avLst>
              <a:gd name="adj" fmla="val 8571"/>
            </a:avLst>
          </a:prstGeom>
          <a:solidFill>
            <a:schemeClr val="tx2"/>
          </a:solidFill>
          <a:ln w="12700">
            <a:solidFill>
              <a:schemeClr val="bg2"/>
            </a:solidFill>
            <a:prstDash val="solid"/>
          </a:ln>
        </p:spPr>
      </p:sp>
      <p:sp>
        <p:nvSpPr>
          <p:cNvPr id="8" name="Flow title 2"/>
          <p:cNvSpPr txBox="1"/>
          <p:nvPr/>
        </p:nvSpPr>
        <p:spPr>
          <a:xfrm>
            <a:off x="2944368" y="1508760"/>
            <a:ext cx="1737360" cy="365760"/>
          </a:xfrm>
          <a:prstGeom prst="rect">
            <a:avLst/>
          </a:prstGeom>
          <a:noFill/>
          <a:ln/>
        </p:spPr>
        <p:txBody>
          <a:bodyPr wrap="square" lIns="0" tIns="0" rIns="0" bIns="0" rtlCol="0" anchor="t"/>
          <a:lstStyle/>
          <a:p>
            <a:pPr algn="ctr" indent="0" marL="0">
              <a:buNone/>
            </a:pPr>
            <a:r>
              <a:rPr lang="en-US" sz="1800" b="1" dirty="0">
                <a:solidFill>
                  <a:schemeClr val="bg1"/>
                </a:solidFill>
              </a:rPr>
              <a:t>LLM agent</a:t>
            </a:r>
            <a:endParaRPr lang="en-US" sz="1800" dirty="0"/>
          </a:p>
        </p:txBody>
      </p:sp>
      <p:sp>
        <p:nvSpPr>
          <p:cNvPr id="9" name="Flow text 2"/>
          <p:cNvSpPr txBox="1"/>
          <p:nvPr/>
        </p:nvSpPr>
        <p:spPr>
          <a:xfrm>
            <a:off x="2944368" y="1965960"/>
            <a:ext cx="1737360" cy="594360"/>
          </a:xfrm>
          <a:prstGeom prst="rect">
            <a:avLst/>
          </a:prstGeom>
          <a:noFill/>
          <a:ln/>
        </p:spPr>
        <p:txBody>
          <a:bodyPr wrap="square" lIns="0" tIns="0" rIns="0" bIns="0" rtlCol="0" anchor="t"/>
          <a:lstStyle/>
          <a:p>
            <a:pPr algn="ctr" indent="0" marL="0">
              <a:buNone/>
            </a:pPr>
            <a:r>
              <a:rPr lang="en-US" sz="1400" dirty="0">
                <a:solidFill>
                  <a:schemeClr val="bg2"/>
                </a:solidFill>
              </a:rPr>
              <a:t>Intent and profile extraction</a:t>
            </a:r>
            <a:endParaRPr lang="en-US" sz="1400" dirty="0"/>
          </a:p>
        </p:txBody>
      </p:sp>
      <p:sp>
        <p:nvSpPr>
          <p:cNvPr id="10" name="Flow arrow 2"/>
          <p:cNvSpPr/>
          <p:nvPr/>
        </p:nvSpPr>
        <p:spPr>
          <a:xfrm>
            <a:off x="4837176" y="1874520"/>
            <a:ext cx="210312" cy="274320"/>
          </a:xfrm>
          <a:prstGeom prst="rightArrow">
            <a:avLst/>
          </a:prstGeom>
          <a:solidFill>
            <a:schemeClr val="accent5"/>
          </a:solidFill>
          <a:ln w="12700">
            <a:solidFill>
              <a:schemeClr val="accent5"/>
            </a:solidFill>
            <a:prstDash val="solid"/>
          </a:ln>
        </p:spPr>
      </p:sp>
      <p:sp>
        <p:nvSpPr>
          <p:cNvPr id="11" name="Flow box 3"/>
          <p:cNvSpPr/>
          <p:nvPr/>
        </p:nvSpPr>
        <p:spPr>
          <a:xfrm>
            <a:off x="5065776" y="1371600"/>
            <a:ext cx="2011680" cy="1280160"/>
          </a:xfrm>
          <a:prstGeom prst="roundRect">
            <a:avLst>
              <a:gd name="adj" fmla="val 8571"/>
            </a:avLst>
          </a:prstGeom>
          <a:solidFill>
            <a:schemeClr val="tx2"/>
          </a:solidFill>
          <a:ln w="12700">
            <a:solidFill>
              <a:schemeClr val="bg2"/>
            </a:solidFill>
            <a:prstDash val="solid"/>
          </a:ln>
        </p:spPr>
      </p:sp>
      <p:sp>
        <p:nvSpPr>
          <p:cNvPr id="12" name="Flow title 3"/>
          <p:cNvSpPr txBox="1"/>
          <p:nvPr/>
        </p:nvSpPr>
        <p:spPr>
          <a:xfrm>
            <a:off x="5202936" y="1508760"/>
            <a:ext cx="1737360" cy="365760"/>
          </a:xfrm>
          <a:prstGeom prst="rect">
            <a:avLst/>
          </a:prstGeom>
          <a:noFill/>
          <a:ln/>
        </p:spPr>
        <p:txBody>
          <a:bodyPr wrap="square" lIns="0" tIns="0" rIns="0" bIns="0" rtlCol="0" anchor="t"/>
          <a:lstStyle/>
          <a:p>
            <a:pPr algn="ctr" indent="0" marL="0">
              <a:buNone/>
            </a:pPr>
            <a:r>
              <a:rPr lang="en-US" sz="1800" b="1" dirty="0">
                <a:solidFill>
                  <a:schemeClr val="bg1"/>
                </a:solidFill>
              </a:rPr>
              <a:t>Matcher</a:t>
            </a:r>
            <a:endParaRPr lang="en-US" sz="1800" dirty="0"/>
          </a:p>
        </p:txBody>
      </p:sp>
      <p:sp>
        <p:nvSpPr>
          <p:cNvPr id="13" name="Flow text 3"/>
          <p:cNvSpPr txBox="1"/>
          <p:nvPr/>
        </p:nvSpPr>
        <p:spPr>
          <a:xfrm>
            <a:off x="5202936" y="1965960"/>
            <a:ext cx="1737360" cy="594360"/>
          </a:xfrm>
          <a:prstGeom prst="rect">
            <a:avLst/>
          </a:prstGeom>
          <a:noFill/>
          <a:ln/>
        </p:spPr>
        <p:txBody>
          <a:bodyPr wrap="square" lIns="0" tIns="0" rIns="0" bIns="0" rtlCol="0" anchor="t"/>
          <a:lstStyle/>
          <a:p>
            <a:pPr algn="ctr" indent="0" marL="0">
              <a:buNone/>
            </a:pPr>
            <a:r>
              <a:rPr lang="en-US" sz="1400" dirty="0">
                <a:solidFill>
                  <a:schemeClr val="bg2"/>
                </a:solidFill>
              </a:rPr>
              <a:t>Skill gap and NSQF ranking</a:t>
            </a:r>
            <a:endParaRPr lang="en-US" sz="1400" dirty="0"/>
          </a:p>
        </p:txBody>
      </p:sp>
      <p:sp>
        <p:nvSpPr>
          <p:cNvPr id="14" name="Flow arrow 3"/>
          <p:cNvSpPr/>
          <p:nvPr/>
        </p:nvSpPr>
        <p:spPr>
          <a:xfrm>
            <a:off x="7095744" y="1874520"/>
            <a:ext cx="210312" cy="274320"/>
          </a:xfrm>
          <a:prstGeom prst="rightArrow">
            <a:avLst/>
          </a:prstGeom>
          <a:solidFill>
            <a:schemeClr val="accent5"/>
          </a:solidFill>
          <a:ln w="12700">
            <a:solidFill>
              <a:schemeClr val="accent5"/>
            </a:solidFill>
            <a:prstDash val="solid"/>
          </a:ln>
        </p:spPr>
      </p:sp>
      <p:sp>
        <p:nvSpPr>
          <p:cNvPr id="15" name="Flow box 4"/>
          <p:cNvSpPr/>
          <p:nvPr/>
        </p:nvSpPr>
        <p:spPr>
          <a:xfrm>
            <a:off x="7324344" y="1371600"/>
            <a:ext cx="2011680" cy="1280160"/>
          </a:xfrm>
          <a:prstGeom prst="roundRect">
            <a:avLst>
              <a:gd name="adj" fmla="val 8571"/>
            </a:avLst>
          </a:prstGeom>
          <a:solidFill>
            <a:schemeClr val="accent2"/>
          </a:solidFill>
          <a:ln w="12700">
            <a:solidFill>
              <a:schemeClr val="bg2"/>
            </a:solidFill>
            <a:prstDash val="solid"/>
          </a:ln>
        </p:spPr>
      </p:sp>
      <p:sp>
        <p:nvSpPr>
          <p:cNvPr id="16" name="Flow title 4"/>
          <p:cNvSpPr txBox="1"/>
          <p:nvPr/>
        </p:nvSpPr>
        <p:spPr>
          <a:xfrm>
            <a:off x="7461504" y="1508760"/>
            <a:ext cx="1737360" cy="365760"/>
          </a:xfrm>
          <a:prstGeom prst="rect">
            <a:avLst/>
          </a:prstGeom>
          <a:noFill/>
          <a:ln/>
        </p:spPr>
        <p:txBody>
          <a:bodyPr wrap="square" lIns="0" tIns="0" rIns="0" bIns="0" rtlCol="0" anchor="t"/>
          <a:lstStyle/>
          <a:p>
            <a:pPr algn="ctr" indent="0" marL="0">
              <a:buNone/>
            </a:pPr>
            <a:r>
              <a:rPr lang="en-US" sz="1800" b="1" dirty="0">
                <a:solidFill>
                  <a:schemeClr val="tx1"/>
                </a:solidFill>
              </a:rPr>
              <a:t>TinyFish</a:t>
            </a:r>
            <a:endParaRPr lang="en-US" sz="1800" dirty="0"/>
          </a:p>
        </p:txBody>
      </p:sp>
      <p:sp>
        <p:nvSpPr>
          <p:cNvPr id="17" name="Flow text 4"/>
          <p:cNvSpPr txBox="1"/>
          <p:nvPr/>
        </p:nvSpPr>
        <p:spPr>
          <a:xfrm>
            <a:off x="7461504" y="1965960"/>
            <a:ext cx="1737360" cy="594360"/>
          </a:xfrm>
          <a:prstGeom prst="rect">
            <a:avLst/>
          </a:prstGeom>
          <a:noFill/>
          <a:ln/>
        </p:spPr>
        <p:txBody>
          <a:bodyPr wrap="square" lIns="0" tIns="0" rIns="0" bIns="0" rtlCol="0" anchor="t"/>
          <a:lstStyle/>
          <a:p>
            <a:pPr algn="ctr" indent="0" marL="0">
              <a:buNone/>
            </a:pPr>
            <a:r>
              <a:rPr lang="en-US" sz="1400" dirty="0">
                <a:solidFill>
                  <a:schemeClr val="tx1"/>
                </a:solidFill>
              </a:rPr>
              <a:t>Live search, fetch and apply</a:t>
            </a:r>
            <a:endParaRPr lang="en-US" sz="1400" dirty="0"/>
          </a:p>
        </p:txBody>
      </p:sp>
      <p:sp>
        <p:nvSpPr>
          <p:cNvPr id="18" name="Flow arrow 4"/>
          <p:cNvSpPr/>
          <p:nvPr/>
        </p:nvSpPr>
        <p:spPr>
          <a:xfrm>
            <a:off x="9354312" y="1874520"/>
            <a:ext cx="210312" cy="274320"/>
          </a:xfrm>
          <a:prstGeom prst="rightArrow">
            <a:avLst/>
          </a:prstGeom>
          <a:solidFill>
            <a:schemeClr val="accent5"/>
          </a:solidFill>
          <a:ln w="12700">
            <a:solidFill>
              <a:schemeClr val="accent5"/>
            </a:solidFill>
            <a:prstDash val="solid"/>
          </a:ln>
        </p:spPr>
      </p:sp>
      <p:sp>
        <p:nvSpPr>
          <p:cNvPr id="19" name="Flow box 5"/>
          <p:cNvSpPr/>
          <p:nvPr/>
        </p:nvSpPr>
        <p:spPr>
          <a:xfrm>
            <a:off x="9582912" y="1371600"/>
            <a:ext cx="2011680" cy="1280160"/>
          </a:xfrm>
          <a:prstGeom prst="roundRect">
            <a:avLst>
              <a:gd name="adj" fmla="val 8571"/>
            </a:avLst>
          </a:prstGeom>
          <a:solidFill>
            <a:schemeClr val="tx2"/>
          </a:solidFill>
          <a:ln w="12700">
            <a:solidFill>
              <a:schemeClr val="bg2"/>
            </a:solidFill>
            <a:prstDash val="solid"/>
          </a:ln>
        </p:spPr>
      </p:sp>
      <p:sp>
        <p:nvSpPr>
          <p:cNvPr id="20" name="Flow title 5"/>
          <p:cNvSpPr txBox="1"/>
          <p:nvPr/>
        </p:nvSpPr>
        <p:spPr>
          <a:xfrm>
            <a:off x="9720072" y="1508760"/>
            <a:ext cx="1737360" cy="365760"/>
          </a:xfrm>
          <a:prstGeom prst="rect">
            <a:avLst/>
          </a:prstGeom>
          <a:noFill/>
          <a:ln/>
        </p:spPr>
        <p:txBody>
          <a:bodyPr wrap="square" lIns="0" tIns="0" rIns="0" bIns="0" rtlCol="0" anchor="t"/>
          <a:lstStyle/>
          <a:p>
            <a:pPr algn="ctr" indent="0" marL="0">
              <a:buNone/>
            </a:pPr>
            <a:r>
              <a:rPr lang="en-US" sz="1800" b="1" dirty="0">
                <a:solidFill>
                  <a:schemeClr val="bg1"/>
                </a:solidFill>
              </a:rPr>
              <a:t>Voice out</a:t>
            </a:r>
            <a:endParaRPr lang="en-US" sz="1800" dirty="0"/>
          </a:p>
        </p:txBody>
      </p:sp>
      <p:sp>
        <p:nvSpPr>
          <p:cNvPr id="21" name="Flow text 5"/>
          <p:cNvSpPr txBox="1"/>
          <p:nvPr/>
        </p:nvSpPr>
        <p:spPr>
          <a:xfrm>
            <a:off x="9720072" y="1965960"/>
            <a:ext cx="1737360" cy="594360"/>
          </a:xfrm>
          <a:prstGeom prst="rect">
            <a:avLst/>
          </a:prstGeom>
          <a:noFill/>
          <a:ln/>
        </p:spPr>
        <p:txBody>
          <a:bodyPr wrap="square" lIns="0" tIns="0" rIns="0" bIns="0" rtlCol="0" anchor="t"/>
          <a:lstStyle/>
          <a:p>
            <a:pPr algn="ctr" indent="0" marL="0">
              <a:buNone/>
            </a:pPr>
            <a:r>
              <a:rPr lang="en-US" sz="1400" dirty="0">
                <a:solidFill>
                  <a:schemeClr val="bg2"/>
                </a:solidFill>
              </a:rPr>
              <a:t>Indic TTS, WhatsApp, web</a:t>
            </a:r>
            <a:endParaRPr lang="en-US" sz="1400" dirty="0"/>
          </a:p>
        </p:txBody>
      </p:sp>
      <p:sp>
        <p:nvSpPr>
          <p:cNvPr id="22" name="AI card 1"/>
          <p:cNvSpPr/>
          <p:nvPr/>
        </p:nvSpPr>
        <p:spPr>
          <a:xfrm>
            <a:off x="548640" y="2926080"/>
            <a:ext cx="2651760" cy="2606040"/>
          </a:xfrm>
          <a:prstGeom prst="roundRect">
            <a:avLst>
              <a:gd name="adj" fmla="val 4211"/>
            </a:avLst>
          </a:prstGeom>
          <a:solidFill>
            <a:schemeClr val="bg2"/>
          </a:solidFill>
          <a:ln w="12700">
            <a:solidFill>
              <a:schemeClr val="bg2"/>
            </a:solidFill>
            <a:prstDash val="solid"/>
          </a:ln>
        </p:spPr>
      </p:sp>
      <p:sp>
        <p:nvSpPr>
          <p:cNvPr id="23" name="AI 1 circle"/>
          <p:cNvSpPr/>
          <p:nvPr/>
        </p:nvSpPr>
        <p:spPr>
          <a:xfrm>
            <a:off x="731520" y="3063240"/>
            <a:ext cx="548640" cy="548640"/>
          </a:xfrm>
          <a:prstGeom prst="ellipse">
            <a:avLst/>
          </a:prstGeom>
          <a:solidFill>
            <a:schemeClr val="accent1"/>
          </a:solidFill>
          <a:ln w="12700">
            <a:solidFill>
              <a:schemeClr val="accent1"/>
            </a:solidFill>
            <a:prstDash val="solid"/>
          </a:ln>
        </p:spPr>
      </p:sp>
      <p:pic>
        <p:nvPicPr>
          <p:cNvPr id="24" name="AI 1 icon" descr="FaLanguage">    </p:cNvPr>
          <p:cNvPicPr>
            <a:picLocks noChangeAspect="1"/>
          </p:cNvPicPr>
          <p:nvPr/>
        </p:nvPicPr>
        <p:blipFill>
          <a:blip r:embed="rId1"/>
          <a:stretch>
            <a:fillRect/>
          </a:stretch>
        </p:blipFill>
        <p:spPr>
          <a:xfrm>
            <a:off x="874166" y="3205886"/>
            <a:ext cx="263347" cy="263347"/>
          </a:xfrm>
          <a:prstGeom prst="rect">
            <a:avLst/>
          </a:prstGeom>
        </p:spPr>
      </p:pic>
      <p:sp>
        <p:nvSpPr>
          <p:cNvPr id="25" name="AI title 1"/>
          <p:cNvSpPr txBox="1"/>
          <p:nvPr/>
        </p:nvSpPr>
        <p:spPr>
          <a:xfrm>
            <a:off x="731520" y="3703320"/>
            <a:ext cx="2286000" cy="365760"/>
          </a:xfrm>
          <a:prstGeom prst="rect">
            <a:avLst/>
          </a:prstGeom>
          <a:noFill/>
          <a:ln/>
        </p:spPr>
        <p:txBody>
          <a:bodyPr wrap="square" lIns="0" tIns="0" rIns="0" bIns="0" rtlCol="0" anchor="t"/>
          <a:lstStyle/>
          <a:p>
            <a:pPr indent="0" marL="0">
              <a:buNone/>
            </a:pPr>
            <a:r>
              <a:rPr lang="en-US" sz="1600" b="1" dirty="0">
                <a:solidFill>
                  <a:schemeClr val="tx2"/>
                </a:solidFill>
              </a:rPr>
              <a:t>Speech and language</a:t>
            </a:r>
            <a:endParaRPr lang="en-US" sz="1600" dirty="0"/>
          </a:p>
        </p:txBody>
      </p:sp>
      <p:sp>
        <p:nvSpPr>
          <p:cNvPr id="26" name="AI text 1"/>
          <p:cNvSpPr txBox="1"/>
          <p:nvPr/>
        </p:nvSpPr>
        <p:spPr>
          <a:xfrm>
            <a:off x="731520" y="4114800"/>
            <a:ext cx="2331720" cy="1371600"/>
          </a:xfrm>
          <a:prstGeom prst="rect">
            <a:avLst/>
          </a:prstGeom>
          <a:noFill/>
          <a:ln/>
        </p:spPr>
        <p:txBody>
          <a:bodyPr wrap="square" lIns="0" tIns="0" rIns="0" bIns="0" rtlCol="0" anchor="t"/>
          <a:lstStyle/>
          <a:p>
            <a:pPr indent="0" marL="0">
              <a:buNone/>
            </a:pPr>
            <a:r>
              <a:rPr lang="en-US" sz="1400" dirty="0">
                <a:solidFill>
                  <a:schemeClr val="tx1"/>
                </a:solidFill>
              </a:rPr>
              <a:t>Indic speech-to-text and text-to-speech, plus a multilingual LLM, let users talk instead of type.</a:t>
            </a:r>
            <a:endParaRPr lang="en-US" sz="1400" dirty="0"/>
          </a:p>
        </p:txBody>
      </p:sp>
      <p:sp>
        <p:nvSpPr>
          <p:cNvPr id="27" name="AI card 2"/>
          <p:cNvSpPr/>
          <p:nvPr/>
        </p:nvSpPr>
        <p:spPr>
          <a:xfrm>
            <a:off x="3355848" y="2926080"/>
            <a:ext cx="2651760" cy="2606040"/>
          </a:xfrm>
          <a:prstGeom prst="roundRect">
            <a:avLst>
              <a:gd name="adj" fmla="val 4211"/>
            </a:avLst>
          </a:prstGeom>
          <a:solidFill>
            <a:schemeClr val="bg2"/>
          </a:solidFill>
          <a:ln w="12700">
            <a:solidFill>
              <a:schemeClr val="bg2"/>
            </a:solidFill>
            <a:prstDash val="solid"/>
          </a:ln>
        </p:spPr>
      </p:sp>
      <p:sp>
        <p:nvSpPr>
          <p:cNvPr id="28" name="AI 2 circle"/>
          <p:cNvSpPr/>
          <p:nvPr/>
        </p:nvSpPr>
        <p:spPr>
          <a:xfrm>
            <a:off x="3538728" y="3063240"/>
            <a:ext cx="548640" cy="548640"/>
          </a:xfrm>
          <a:prstGeom prst="ellipse">
            <a:avLst/>
          </a:prstGeom>
          <a:solidFill>
            <a:schemeClr val="accent1"/>
          </a:solidFill>
          <a:ln w="12700">
            <a:solidFill>
              <a:schemeClr val="accent1"/>
            </a:solidFill>
            <a:prstDash val="solid"/>
          </a:ln>
        </p:spPr>
      </p:sp>
      <p:pic>
        <p:nvPicPr>
          <p:cNvPr id="29" name="AI 2 icon" descr="FaUserCheck">    </p:cNvPr>
          <p:cNvPicPr>
            <a:picLocks noChangeAspect="1"/>
          </p:cNvPicPr>
          <p:nvPr/>
        </p:nvPicPr>
        <p:blipFill>
          <a:blip r:embed="rId2"/>
          <a:stretch>
            <a:fillRect/>
          </a:stretch>
        </p:blipFill>
        <p:spPr>
          <a:xfrm>
            <a:off x="3681374" y="3205886"/>
            <a:ext cx="263347" cy="263347"/>
          </a:xfrm>
          <a:prstGeom prst="rect">
            <a:avLst/>
          </a:prstGeom>
        </p:spPr>
      </p:pic>
      <p:sp>
        <p:nvSpPr>
          <p:cNvPr id="30" name="AI title 2"/>
          <p:cNvSpPr txBox="1"/>
          <p:nvPr/>
        </p:nvSpPr>
        <p:spPr>
          <a:xfrm>
            <a:off x="3538728" y="3703320"/>
            <a:ext cx="2286000" cy="365760"/>
          </a:xfrm>
          <a:prstGeom prst="rect">
            <a:avLst/>
          </a:prstGeom>
          <a:noFill/>
          <a:ln/>
        </p:spPr>
        <p:txBody>
          <a:bodyPr wrap="square" lIns="0" tIns="0" rIns="0" bIns="0" rtlCol="0" anchor="t"/>
          <a:lstStyle/>
          <a:p>
            <a:pPr indent="0" marL="0">
              <a:buNone/>
            </a:pPr>
            <a:r>
              <a:rPr lang="en-US" sz="1600" b="1" dirty="0">
                <a:solidFill>
                  <a:schemeClr val="tx2"/>
                </a:solidFill>
              </a:rPr>
              <a:t>Profile extraction</a:t>
            </a:r>
            <a:endParaRPr lang="en-US" sz="1600" dirty="0"/>
          </a:p>
        </p:txBody>
      </p:sp>
      <p:sp>
        <p:nvSpPr>
          <p:cNvPr id="31" name="AI text 2"/>
          <p:cNvSpPr txBox="1"/>
          <p:nvPr/>
        </p:nvSpPr>
        <p:spPr>
          <a:xfrm>
            <a:off x="3538728" y="4114800"/>
            <a:ext cx="2331720" cy="1371600"/>
          </a:xfrm>
          <a:prstGeom prst="rect">
            <a:avLst/>
          </a:prstGeom>
          <a:noFill/>
          <a:ln/>
        </p:spPr>
        <p:txBody>
          <a:bodyPr wrap="square" lIns="0" tIns="0" rIns="0" bIns="0" rtlCol="0" anchor="t"/>
          <a:lstStyle/>
          <a:p>
            <a:pPr indent="0" marL="0">
              <a:buNone/>
            </a:pPr>
            <a:r>
              <a:rPr lang="en-US" sz="1400" dirty="0">
                <a:solidFill>
                  <a:schemeClr val="tx1"/>
                </a:solidFill>
              </a:rPr>
              <a:t>The LLM turns free speech into a structured profile: education, skills, location and constraints.</a:t>
            </a:r>
            <a:endParaRPr lang="en-US" sz="1400" dirty="0"/>
          </a:p>
        </p:txBody>
      </p:sp>
      <p:sp>
        <p:nvSpPr>
          <p:cNvPr id="32" name="AI card 3"/>
          <p:cNvSpPr/>
          <p:nvPr/>
        </p:nvSpPr>
        <p:spPr>
          <a:xfrm>
            <a:off x="6163056" y="2926080"/>
            <a:ext cx="2651760" cy="2606040"/>
          </a:xfrm>
          <a:prstGeom prst="roundRect">
            <a:avLst>
              <a:gd name="adj" fmla="val 4211"/>
            </a:avLst>
          </a:prstGeom>
          <a:solidFill>
            <a:schemeClr val="bg2"/>
          </a:solidFill>
          <a:ln w="12700">
            <a:solidFill>
              <a:schemeClr val="bg2"/>
            </a:solidFill>
            <a:prstDash val="solid"/>
          </a:ln>
        </p:spPr>
      </p:sp>
      <p:sp>
        <p:nvSpPr>
          <p:cNvPr id="33" name="AI 3 circle"/>
          <p:cNvSpPr/>
          <p:nvPr/>
        </p:nvSpPr>
        <p:spPr>
          <a:xfrm>
            <a:off x="6345936" y="3063240"/>
            <a:ext cx="548640" cy="548640"/>
          </a:xfrm>
          <a:prstGeom prst="ellipse">
            <a:avLst/>
          </a:prstGeom>
          <a:solidFill>
            <a:schemeClr val="accent1"/>
          </a:solidFill>
          <a:ln w="12700">
            <a:solidFill>
              <a:schemeClr val="accent1"/>
            </a:solidFill>
            <a:prstDash val="solid"/>
          </a:ln>
        </p:spPr>
      </p:sp>
      <p:pic>
        <p:nvPicPr>
          <p:cNvPr id="34" name="AI 3 icon" descr="FaChartLine">    </p:cNvPr>
          <p:cNvPicPr>
            <a:picLocks noChangeAspect="1"/>
          </p:cNvPicPr>
          <p:nvPr/>
        </p:nvPicPr>
        <p:blipFill>
          <a:blip r:embed="rId3"/>
          <a:stretch>
            <a:fillRect/>
          </a:stretch>
        </p:blipFill>
        <p:spPr>
          <a:xfrm>
            <a:off x="6488582" y="3205886"/>
            <a:ext cx="263347" cy="263347"/>
          </a:xfrm>
          <a:prstGeom prst="rect">
            <a:avLst/>
          </a:prstGeom>
        </p:spPr>
      </p:pic>
      <p:sp>
        <p:nvSpPr>
          <p:cNvPr id="35" name="AI title 3"/>
          <p:cNvSpPr txBox="1"/>
          <p:nvPr/>
        </p:nvSpPr>
        <p:spPr>
          <a:xfrm>
            <a:off x="6345936" y="3703320"/>
            <a:ext cx="2286000" cy="365760"/>
          </a:xfrm>
          <a:prstGeom prst="rect">
            <a:avLst/>
          </a:prstGeom>
          <a:noFill/>
          <a:ln/>
        </p:spPr>
        <p:txBody>
          <a:bodyPr wrap="square" lIns="0" tIns="0" rIns="0" bIns="0" rtlCol="0" anchor="t"/>
          <a:lstStyle/>
          <a:p>
            <a:pPr indent="0" marL="0">
              <a:buNone/>
            </a:pPr>
            <a:r>
              <a:rPr lang="en-US" sz="1600" b="1" dirty="0">
                <a:solidFill>
                  <a:schemeClr val="tx2"/>
                </a:solidFill>
              </a:rPr>
              <a:t>Matching and ranking</a:t>
            </a:r>
            <a:endParaRPr lang="en-US" sz="1600" dirty="0"/>
          </a:p>
        </p:txBody>
      </p:sp>
      <p:sp>
        <p:nvSpPr>
          <p:cNvPr id="36" name="AI text 3"/>
          <p:cNvSpPr txBox="1"/>
          <p:nvPr/>
        </p:nvSpPr>
        <p:spPr>
          <a:xfrm>
            <a:off x="6345936" y="4114800"/>
            <a:ext cx="2331720" cy="1371600"/>
          </a:xfrm>
          <a:prstGeom prst="rect">
            <a:avLst/>
          </a:prstGeom>
          <a:noFill/>
          <a:ln/>
        </p:spPr>
        <p:txBody>
          <a:bodyPr wrap="square" lIns="0" tIns="0" rIns="0" bIns="0" rtlCol="0" anchor="t"/>
          <a:lstStyle/>
          <a:p>
            <a:pPr indent="0" marL="0">
              <a:buNone/>
            </a:pPr>
            <a:r>
              <a:rPr lang="en-US" sz="1400" dirty="0">
                <a:solidFill>
                  <a:schemeClr val="tx1"/>
                </a:solidFill>
              </a:rPr>
              <a:t>A scoring model ranks NSQF courses and jobs on skill gap, distance, duration and cost.</a:t>
            </a:r>
            <a:endParaRPr lang="en-US" sz="1400" dirty="0"/>
          </a:p>
        </p:txBody>
      </p:sp>
      <p:sp>
        <p:nvSpPr>
          <p:cNvPr id="37" name="AI card 4"/>
          <p:cNvSpPr/>
          <p:nvPr/>
        </p:nvSpPr>
        <p:spPr>
          <a:xfrm>
            <a:off x="8970264" y="2926080"/>
            <a:ext cx="2651760" cy="2606040"/>
          </a:xfrm>
          <a:prstGeom prst="roundRect">
            <a:avLst>
              <a:gd name="adj" fmla="val 4211"/>
            </a:avLst>
          </a:prstGeom>
          <a:solidFill>
            <a:schemeClr val="bg2"/>
          </a:solidFill>
          <a:ln w="12700">
            <a:solidFill>
              <a:schemeClr val="bg2"/>
            </a:solidFill>
            <a:prstDash val="solid"/>
          </a:ln>
        </p:spPr>
      </p:sp>
      <p:sp>
        <p:nvSpPr>
          <p:cNvPr id="38" name="AI 4 circle"/>
          <p:cNvSpPr/>
          <p:nvPr/>
        </p:nvSpPr>
        <p:spPr>
          <a:xfrm>
            <a:off x="9153144" y="3063240"/>
            <a:ext cx="548640" cy="548640"/>
          </a:xfrm>
          <a:prstGeom prst="ellipse">
            <a:avLst/>
          </a:prstGeom>
          <a:solidFill>
            <a:schemeClr val="accent1"/>
          </a:solidFill>
          <a:ln w="12700">
            <a:solidFill>
              <a:schemeClr val="accent1"/>
            </a:solidFill>
            <a:prstDash val="solid"/>
          </a:ln>
        </p:spPr>
      </p:sp>
      <p:pic>
        <p:nvPicPr>
          <p:cNvPr id="39" name="AI 4 icon" descr="FaShieldAlt">    </p:cNvPr>
          <p:cNvPicPr>
            <a:picLocks noChangeAspect="1"/>
          </p:cNvPicPr>
          <p:nvPr/>
        </p:nvPicPr>
        <p:blipFill>
          <a:blip r:embed="rId4"/>
          <a:stretch>
            <a:fillRect/>
          </a:stretch>
        </p:blipFill>
        <p:spPr>
          <a:xfrm>
            <a:off x="9295790" y="3205886"/>
            <a:ext cx="263347" cy="263347"/>
          </a:xfrm>
          <a:prstGeom prst="rect">
            <a:avLst/>
          </a:prstGeom>
        </p:spPr>
      </p:pic>
      <p:sp>
        <p:nvSpPr>
          <p:cNvPr id="40" name="AI title 4"/>
          <p:cNvSpPr txBox="1"/>
          <p:nvPr/>
        </p:nvSpPr>
        <p:spPr>
          <a:xfrm>
            <a:off x="9153144" y="3703320"/>
            <a:ext cx="2286000" cy="365760"/>
          </a:xfrm>
          <a:prstGeom prst="rect">
            <a:avLst/>
          </a:prstGeom>
          <a:noFill/>
          <a:ln/>
        </p:spPr>
        <p:txBody>
          <a:bodyPr wrap="square" lIns="0" tIns="0" rIns="0" bIns="0" rtlCol="0" anchor="t"/>
          <a:lstStyle/>
          <a:p>
            <a:pPr indent="0" marL="0">
              <a:buNone/>
            </a:pPr>
            <a:r>
              <a:rPr lang="en-US" sz="1600" b="1" dirty="0">
                <a:solidFill>
                  <a:schemeClr val="tx2"/>
                </a:solidFill>
              </a:rPr>
              <a:t>Grounded answers</a:t>
            </a:r>
            <a:endParaRPr lang="en-US" sz="1600" dirty="0"/>
          </a:p>
        </p:txBody>
      </p:sp>
      <p:sp>
        <p:nvSpPr>
          <p:cNvPr id="41" name="AI text 4"/>
          <p:cNvSpPr txBox="1"/>
          <p:nvPr/>
        </p:nvSpPr>
        <p:spPr>
          <a:xfrm>
            <a:off x="9153144" y="4114800"/>
            <a:ext cx="2331720" cy="1371600"/>
          </a:xfrm>
          <a:prstGeom prst="rect">
            <a:avLst/>
          </a:prstGeom>
          <a:noFill/>
          <a:ln/>
        </p:spPr>
        <p:txBody>
          <a:bodyPr wrap="square" lIns="0" tIns="0" rIns="0" bIns="0" rtlCol="0" anchor="t"/>
          <a:lstStyle/>
          <a:p>
            <a:pPr indent="0" marL="0">
              <a:buNone/>
            </a:pPr>
            <a:r>
              <a:rPr lang="en-US" sz="1400" dirty="0">
                <a:solidFill>
                  <a:schemeClr val="tx1"/>
                </a:solidFill>
              </a:rPr>
              <a:t>Replies are built from pages fetched live and carry source links, which limits hallucination.</a:t>
            </a:r>
            <a:endParaRPr lang="en-US" sz="1400" dirty="0"/>
          </a:p>
        </p:txBody>
      </p:sp>
      <p:sp>
        <p:nvSpPr>
          <p:cNvPr id="42" name="Stack line"/>
          <p:cNvSpPr txBox="1"/>
          <p:nvPr/>
        </p:nvSpPr>
        <p:spPr>
          <a:xfrm>
            <a:off x="548640" y="5760720"/>
            <a:ext cx="11064240" cy="365760"/>
          </a:xfrm>
          <a:prstGeom prst="rect">
            <a:avLst/>
          </a:prstGeom>
          <a:noFill/>
          <a:ln/>
        </p:spPr>
        <p:txBody>
          <a:bodyPr wrap="square" lIns="0" tIns="0" rIns="0" bIns="0" rtlCol="0" anchor="t"/>
          <a:lstStyle/>
          <a:p>
            <a:pPr indent="0" marL="0">
              <a:buNone/>
            </a:pPr>
            <a:r>
              <a:rPr lang="en-US" sz="1600" b="1" dirty="0">
                <a:solidFill>
                  <a:schemeClr val="tx2"/>
                </a:solidFill>
              </a:rPr>
              <a:t>Stack: </a:t>
            </a:r>
            <a:pPr indent="0" marL="0">
              <a:buNone/>
            </a:pPr>
            <a:r>
              <a:rPr lang="en-US" sz="1600" dirty="0">
                <a:solidFill>
                  <a:schemeClr val="tx1"/>
                </a:solidFill>
              </a:rPr>
              <a:t>Next.js  |  FastAPI  |  PostgreSQL  |  Whisper / Indic STT  |  Indic TTS  |  TinyFish APIs</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TinyFish makes the live web our data layer</a:t>
            </a:r>
            <a:endParaRPr lang="en-US" sz="3200" dirty="0"/>
          </a:p>
        </p:txBody>
      </p:sp>
      <p:sp>
        <p:nvSpPr>
          <p:cNvPr id="3" name="TinyFish card 1"/>
          <p:cNvSpPr/>
          <p:nvPr/>
        </p:nvSpPr>
        <p:spPr>
          <a:xfrm>
            <a:off x="548640" y="1371600"/>
            <a:ext cx="7406640" cy="1417320"/>
          </a:xfrm>
          <a:prstGeom prst="roundRect">
            <a:avLst>
              <a:gd name="adj" fmla="val 7742"/>
            </a:avLst>
          </a:prstGeom>
          <a:solidFill>
            <a:schemeClr val="bg2"/>
          </a:solidFill>
          <a:ln w="12700">
            <a:solidFill>
              <a:schemeClr val="bg2"/>
            </a:solidFill>
            <a:prstDash val="solid"/>
          </a:ln>
        </p:spPr>
      </p:sp>
      <p:sp>
        <p:nvSpPr>
          <p:cNvPr id="4" name="TinyFish 1 circle"/>
          <p:cNvSpPr/>
          <p:nvPr/>
        </p:nvSpPr>
        <p:spPr>
          <a:xfrm>
            <a:off x="777240" y="1737360"/>
            <a:ext cx="685800" cy="685800"/>
          </a:xfrm>
          <a:prstGeom prst="ellipse">
            <a:avLst/>
          </a:prstGeom>
          <a:solidFill>
            <a:schemeClr val="accent1"/>
          </a:solidFill>
          <a:ln w="12700">
            <a:solidFill>
              <a:schemeClr val="accent1"/>
            </a:solidFill>
            <a:prstDash val="solid"/>
          </a:ln>
        </p:spPr>
      </p:sp>
      <p:pic>
        <p:nvPicPr>
          <p:cNvPr id="5" name="TinyFish 1 icon" descr="FaSearch">    </p:cNvPr>
          <p:cNvPicPr>
            <a:picLocks noChangeAspect="1"/>
          </p:cNvPicPr>
          <p:nvPr/>
        </p:nvPicPr>
        <p:blipFill>
          <a:blip r:embed="rId1"/>
          <a:stretch>
            <a:fillRect/>
          </a:stretch>
        </p:blipFill>
        <p:spPr>
          <a:xfrm>
            <a:off x="955548" y="1915668"/>
            <a:ext cx="329184" cy="329184"/>
          </a:xfrm>
          <a:prstGeom prst="rect">
            <a:avLst/>
          </a:prstGeom>
        </p:spPr>
      </p:pic>
      <p:sp>
        <p:nvSpPr>
          <p:cNvPr id="6" name="TinyFish title 1"/>
          <p:cNvSpPr txBox="1"/>
          <p:nvPr/>
        </p:nvSpPr>
        <p:spPr>
          <a:xfrm>
            <a:off x="1737360" y="1508760"/>
            <a:ext cx="6035040" cy="365760"/>
          </a:xfrm>
          <a:prstGeom prst="rect">
            <a:avLst/>
          </a:prstGeom>
          <a:noFill/>
          <a:ln/>
        </p:spPr>
        <p:txBody>
          <a:bodyPr wrap="square" lIns="0" tIns="0" rIns="0" bIns="0" rtlCol="0" anchor="t"/>
          <a:lstStyle/>
          <a:p>
            <a:pPr indent="0" marL="0">
              <a:buNone/>
            </a:pPr>
            <a:r>
              <a:rPr lang="en-US" sz="1800" b="1" dirty="0">
                <a:solidFill>
                  <a:schemeClr val="tx2"/>
                </a:solidFill>
              </a:rPr>
              <a:t>Search API</a:t>
            </a:r>
            <a:endParaRPr lang="en-US" sz="1800" dirty="0"/>
          </a:p>
        </p:txBody>
      </p:sp>
      <p:sp>
        <p:nvSpPr>
          <p:cNvPr id="7" name="TinyFish text 1"/>
          <p:cNvSpPr txBox="1"/>
          <p:nvPr/>
        </p:nvSpPr>
        <p:spPr>
          <a:xfrm>
            <a:off x="1737360" y="1920240"/>
            <a:ext cx="6035040" cy="822960"/>
          </a:xfrm>
          <a:prstGeom prst="rect">
            <a:avLst/>
          </a:prstGeom>
          <a:noFill/>
          <a:ln/>
        </p:spPr>
        <p:txBody>
          <a:bodyPr wrap="square" lIns="0" tIns="0" rIns="0" bIns="0" rtlCol="0" anchor="t"/>
          <a:lstStyle/>
          <a:p>
            <a:pPr indent="0" marL="0">
              <a:buNone/>
            </a:pPr>
            <a:r>
              <a:rPr lang="en-US" sz="1400" dirty="0">
                <a:solidFill>
                  <a:schemeClr val="tx1"/>
                </a:solidFill>
              </a:rPr>
              <a:t>Finds current training batches, job openings, apprenticeships and scheme pages that match the user's profile and district.</a:t>
            </a:r>
            <a:endParaRPr lang="en-US" sz="1400" dirty="0"/>
          </a:p>
        </p:txBody>
      </p:sp>
      <p:sp>
        <p:nvSpPr>
          <p:cNvPr id="8" name="TinyFish card 2"/>
          <p:cNvSpPr/>
          <p:nvPr/>
        </p:nvSpPr>
        <p:spPr>
          <a:xfrm>
            <a:off x="548640" y="2926080"/>
            <a:ext cx="7406640" cy="1417320"/>
          </a:xfrm>
          <a:prstGeom prst="roundRect">
            <a:avLst>
              <a:gd name="adj" fmla="val 7742"/>
            </a:avLst>
          </a:prstGeom>
          <a:solidFill>
            <a:schemeClr val="bg2"/>
          </a:solidFill>
          <a:ln w="12700">
            <a:solidFill>
              <a:schemeClr val="bg2"/>
            </a:solidFill>
            <a:prstDash val="solid"/>
          </a:ln>
        </p:spPr>
      </p:sp>
      <p:sp>
        <p:nvSpPr>
          <p:cNvPr id="9" name="TinyFish 2 circle"/>
          <p:cNvSpPr/>
          <p:nvPr/>
        </p:nvSpPr>
        <p:spPr>
          <a:xfrm>
            <a:off x="777240" y="3291840"/>
            <a:ext cx="685800" cy="685800"/>
          </a:xfrm>
          <a:prstGeom prst="ellipse">
            <a:avLst/>
          </a:prstGeom>
          <a:solidFill>
            <a:schemeClr val="accent1"/>
          </a:solidFill>
          <a:ln w="12700">
            <a:solidFill>
              <a:schemeClr val="accent1"/>
            </a:solidFill>
            <a:prstDash val="solid"/>
          </a:ln>
        </p:spPr>
      </p:sp>
      <p:pic>
        <p:nvPicPr>
          <p:cNvPr id="10" name="TinyFish 2 icon" descr="FaFileAlt">    </p:cNvPr>
          <p:cNvPicPr>
            <a:picLocks noChangeAspect="1"/>
          </p:cNvPicPr>
          <p:nvPr/>
        </p:nvPicPr>
        <p:blipFill>
          <a:blip r:embed="rId2"/>
          <a:stretch>
            <a:fillRect/>
          </a:stretch>
        </p:blipFill>
        <p:spPr>
          <a:xfrm>
            <a:off x="955548" y="3470148"/>
            <a:ext cx="329184" cy="329184"/>
          </a:xfrm>
          <a:prstGeom prst="rect">
            <a:avLst/>
          </a:prstGeom>
        </p:spPr>
      </p:pic>
      <p:sp>
        <p:nvSpPr>
          <p:cNvPr id="11" name="TinyFish title 2"/>
          <p:cNvSpPr txBox="1"/>
          <p:nvPr/>
        </p:nvSpPr>
        <p:spPr>
          <a:xfrm>
            <a:off x="1737360" y="3063240"/>
            <a:ext cx="6035040" cy="365760"/>
          </a:xfrm>
          <a:prstGeom prst="rect">
            <a:avLst/>
          </a:prstGeom>
          <a:noFill/>
          <a:ln/>
        </p:spPr>
        <p:txBody>
          <a:bodyPr wrap="square" lIns="0" tIns="0" rIns="0" bIns="0" rtlCol="0" anchor="t"/>
          <a:lstStyle/>
          <a:p>
            <a:pPr indent="0" marL="0">
              <a:buNone/>
            </a:pPr>
            <a:r>
              <a:rPr lang="en-US" sz="1800" b="1" dirty="0">
                <a:solidFill>
                  <a:schemeClr val="tx2"/>
                </a:solidFill>
              </a:rPr>
              <a:t>Fetch API</a:t>
            </a:r>
            <a:endParaRPr lang="en-US" sz="1800" dirty="0"/>
          </a:p>
        </p:txBody>
      </p:sp>
      <p:sp>
        <p:nvSpPr>
          <p:cNvPr id="12" name="TinyFish text 2"/>
          <p:cNvSpPr txBox="1"/>
          <p:nvPr/>
        </p:nvSpPr>
        <p:spPr>
          <a:xfrm>
            <a:off x="1737360" y="3474720"/>
            <a:ext cx="6035040" cy="822960"/>
          </a:xfrm>
          <a:prstGeom prst="rect">
            <a:avLst/>
          </a:prstGeom>
          <a:noFill/>
          <a:ln/>
        </p:spPr>
        <p:txBody>
          <a:bodyPr wrap="square" lIns="0" tIns="0" rIns="0" bIns="0" rtlCol="0" anchor="t"/>
          <a:lstStyle/>
          <a:p>
            <a:pPr indent="0" marL="0">
              <a:buNone/>
            </a:pPr>
            <a:r>
              <a:rPr lang="en-US" sz="1400" dirty="0">
                <a:solidFill>
                  <a:schemeClr val="tx1"/>
                </a:solidFill>
              </a:rPr>
              <a:t>Renders chosen portal pages in a real browser and extracts clean content: eligibility, dates, centre address and documents needed.</a:t>
            </a:r>
            <a:endParaRPr lang="en-US" sz="1400" dirty="0"/>
          </a:p>
        </p:txBody>
      </p:sp>
      <p:sp>
        <p:nvSpPr>
          <p:cNvPr id="13" name="TinyFish card 3"/>
          <p:cNvSpPr/>
          <p:nvPr/>
        </p:nvSpPr>
        <p:spPr>
          <a:xfrm>
            <a:off x="548640" y="4480560"/>
            <a:ext cx="7406640" cy="1417320"/>
          </a:xfrm>
          <a:prstGeom prst="roundRect">
            <a:avLst>
              <a:gd name="adj" fmla="val 7742"/>
            </a:avLst>
          </a:prstGeom>
          <a:solidFill>
            <a:schemeClr val="bg2"/>
          </a:solidFill>
          <a:ln w="12700">
            <a:solidFill>
              <a:schemeClr val="bg2"/>
            </a:solidFill>
            <a:prstDash val="solid"/>
          </a:ln>
        </p:spPr>
      </p:sp>
      <p:sp>
        <p:nvSpPr>
          <p:cNvPr id="14" name="TinyFish 3 circle"/>
          <p:cNvSpPr/>
          <p:nvPr/>
        </p:nvSpPr>
        <p:spPr>
          <a:xfrm>
            <a:off x="777240" y="4846320"/>
            <a:ext cx="685800" cy="685800"/>
          </a:xfrm>
          <a:prstGeom prst="ellipse">
            <a:avLst/>
          </a:prstGeom>
          <a:solidFill>
            <a:schemeClr val="accent1"/>
          </a:solidFill>
          <a:ln w="12700">
            <a:solidFill>
              <a:schemeClr val="accent1"/>
            </a:solidFill>
            <a:prstDash val="solid"/>
          </a:ln>
        </p:spPr>
      </p:sp>
      <p:pic>
        <p:nvPicPr>
          <p:cNvPr id="15" name="TinyFish 3 icon" descr="FaRobot">    </p:cNvPr>
          <p:cNvPicPr>
            <a:picLocks noChangeAspect="1"/>
          </p:cNvPicPr>
          <p:nvPr/>
        </p:nvPicPr>
        <p:blipFill>
          <a:blip r:embed="rId3"/>
          <a:stretch>
            <a:fillRect/>
          </a:stretch>
        </p:blipFill>
        <p:spPr>
          <a:xfrm>
            <a:off x="955548" y="5024628"/>
            <a:ext cx="329184" cy="329184"/>
          </a:xfrm>
          <a:prstGeom prst="rect">
            <a:avLst/>
          </a:prstGeom>
        </p:spPr>
      </p:pic>
      <p:sp>
        <p:nvSpPr>
          <p:cNvPr id="16" name="TinyFish title 3"/>
          <p:cNvSpPr txBox="1"/>
          <p:nvPr/>
        </p:nvSpPr>
        <p:spPr>
          <a:xfrm>
            <a:off x="1737360" y="4617720"/>
            <a:ext cx="6035040" cy="365760"/>
          </a:xfrm>
          <a:prstGeom prst="rect">
            <a:avLst/>
          </a:prstGeom>
          <a:noFill/>
          <a:ln/>
        </p:spPr>
        <p:txBody>
          <a:bodyPr wrap="square" lIns="0" tIns="0" rIns="0" bIns="0" rtlCol="0" anchor="t"/>
          <a:lstStyle/>
          <a:p>
            <a:pPr indent="0" marL="0">
              <a:buNone/>
            </a:pPr>
            <a:r>
              <a:rPr lang="en-US" sz="1800" b="1" dirty="0">
                <a:solidFill>
                  <a:schemeClr val="tx2"/>
                </a:solidFill>
              </a:rPr>
              <a:t>Agent API</a:t>
            </a:r>
            <a:endParaRPr lang="en-US" sz="1800" dirty="0"/>
          </a:p>
        </p:txBody>
      </p:sp>
      <p:sp>
        <p:nvSpPr>
          <p:cNvPr id="17" name="TinyFish text 3"/>
          <p:cNvSpPr txBox="1"/>
          <p:nvPr/>
        </p:nvSpPr>
        <p:spPr>
          <a:xfrm>
            <a:off x="1737360" y="5029200"/>
            <a:ext cx="6035040" cy="822960"/>
          </a:xfrm>
          <a:prstGeom prst="rect">
            <a:avLst/>
          </a:prstGeom>
          <a:noFill/>
          <a:ln/>
        </p:spPr>
        <p:txBody>
          <a:bodyPr wrap="square" lIns="0" tIns="0" rIns="0" bIns="0" rtlCol="0" anchor="t"/>
          <a:lstStyle/>
          <a:p>
            <a:pPr indent="0" marL="0">
              <a:buNone/>
            </a:pPr>
            <a:r>
              <a:rPr lang="en-US" sz="1400" dirty="0">
                <a:solidFill>
                  <a:schemeClr val="tx1"/>
                </a:solidFill>
              </a:rPr>
              <a:t>Takes a goal in plain language and works through a real website. We use it to pre-fill registrations and applications from the voice-built profile.</a:t>
            </a:r>
            <a:endParaRPr lang="en-US" sz="1400" dirty="0"/>
          </a:p>
        </p:txBody>
      </p:sp>
      <p:sp>
        <p:nvSpPr>
          <p:cNvPr id="18" name="Meaningful panel"/>
          <p:cNvSpPr/>
          <p:nvPr/>
        </p:nvSpPr>
        <p:spPr>
          <a:xfrm>
            <a:off x="8229600" y="1371600"/>
            <a:ext cx="3383280" cy="4526280"/>
          </a:xfrm>
          <a:prstGeom prst="roundRect">
            <a:avLst>
              <a:gd name="adj" fmla="val 3243"/>
            </a:avLst>
          </a:prstGeom>
          <a:solidFill>
            <a:schemeClr val="tx2"/>
          </a:solidFill>
          <a:ln w="12700">
            <a:solidFill>
              <a:schemeClr val="bg2"/>
            </a:solidFill>
            <a:prstDash val="solid"/>
          </a:ln>
        </p:spPr>
      </p:sp>
      <p:sp>
        <p:nvSpPr>
          <p:cNvPr id="19" name="Meaningful heading"/>
          <p:cNvSpPr txBox="1"/>
          <p:nvPr/>
        </p:nvSpPr>
        <p:spPr>
          <a:xfrm>
            <a:off x="8458200" y="1554480"/>
            <a:ext cx="2926080" cy="365760"/>
          </a:xfrm>
          <a:prstGeom prst="rect">
            <a:avLst/>
          </a:prstGeom>
          <a:noFill/>
          <a:ln/>
        </p:spPr>
        <p:txBody>
          <a:bodyPr wrap="square" lIns="0" tIns="0" rIns="0" bIns="0" rtlCol="0" anchor="t"/>
          <a:lstStyle/>
          <a:p>
            <a:pPr indent="0" marL="0">
              <a:buNone/>
            </a:pPr>
            <a:r>
              <a:rPr lang="en-US" sz="1800" b="1" dirty="0">
                <a:solidFill>
                  <a:schemeClr val="accent2"/>
                </a:solidFill>
              </a:rPr>
              <a:t>Why it is meaningful</a:t>
            </a:r>
            <a:endParaRPr lang="en-US" sz="1800" dirty="0"/>
          </a:p>
        </p:txBody>
      </p:sp>
      <p:sp>
        <p:nvSpPr>
          <p:cNvPr id="20" name="Meaningful text"/>
          <p:cNvSpPr txBox="1"/>
          <p:nvPr/>
        </p:nvSpPr>
        <p:spPr>
          <a:xfrm>
            <a:off x="8458200" y="2103120"/>
            <a:ext cx="2926080" cy="36576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bg1"/>
                </a:solidFill>
              </a:rPr>
              <a:t>Remove TinyFish and the product has no live data and cannot act.</a:t>
            </a:r>
            <a:endParaRPr lang="en-US" sz="1400" dirty="0"/>
          </a:p>
          <a:p>
            <a:pPr marL="342900" indent="-342900">
              <a:spcAft>
                <a:spcPts val="1000"/>
              </a:spcAft>
              <a:buSzPct val="100000"/>
              <a:buChar char="•"/>
            </a:pPr>
            <a:r>
              <a:rPr lang="en-US" sz="1400" dirty="0">
                <a:solidFill>
                  <a:schemeClr val="bg1"/>
                </a:solidFill>
              </a:rPr>
              <a:t>Users confirm before any application is submitted.</a:t>
            </a:r>
            <a:endParaRPr lang="en-US" sz="1400" dirty="0"/>
          </a:p>
          <a:p>
            <a:pPr marL="342900" indent="-342900">
              <a:spcAft>
                <a:spcPts val="1000"/>
              </a:spcAft>
              <a:buSzPct val="100000"/>
              <a:buChar char="•"/>
            </a:pPr>
            <a:r>
              <a:rPr lang="en-US" sz="1400" dirty="0">
                <a:solidFill>
                  <a:schemeClr val="bg1"/>
                </a:solidFill>
              </a:rPr>
              <a:t>If a portal is unreachable, cached results are shown with their date.</a:t>
            </a:r>
            <a:endParaRPr lang="en-US" sz="1400" dirty="0"/>
          </a:p>
          <a:p>
            <a:pPr marL="342900" indent="-342900">
              <a:spcAft>
                <a:spcPts val="1000"/>
              </a:spcAft>
              <a:buSzPct val="100000"/>
              <a:buChar char="•"/>
            </a:pPr>
            <a:r>
              <a:rPr lang="en-US" sz="1400" dirty="0">
                <a:solidFill>
                  <a:schemeClr val="bg1"/>
                </a:solidFill>
              </a:rPr>
              <a:t>Search and Fetch are free; credits apply to Agent and Browser (TinyFish docs).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What is strong about this idea</a:t>
            </a:r>
            <a:endParaRPr lang="en-US" sz="3200" dirty="0"/>
          </a:p>
        </p:txBody>
      </p:sp>
      <p:sp>
        <p:nvSpPr>
          <p:cNvPr id="3" name="Strength card 1"/>
          <p:cNvSpPr/>
          <p:nvPr/>
        </p:nvSpPr>
        <p:spPr>
          <a:xfrm>
            <a:off x="548640" y="1371600"/>
            <a:ext cx="3520440" cy="4663440"/>
          </a:xfrm>
          <a:prstGeom prst="roundRect">
            <a:avLst>
              <a:gd name="adj" fmla="val 3117"/>
            </a:avLst>
          </a:prstGeom>
          <a:solidFill>
            <a:schemeClr val="bg2"/>
          </a:solidFill>
          <a:ln w="12700">
            <a:solidFill>
              <a:schemeClr val="bg2"/>
            </a:solidFill>
            <a:prstDash val="solid"/>
          </a:ln>
        </p:spPr>
      </p:sp>
      <p:sp>
        <p:nvSpPr>
          <p:cNvPr id="4" name="Strength 1 circle"/>
          <p:cNvSpPr/>
          <p:nvPr/>
        </p:nvSpPr>
        <p:spPr>
          <a:xfrm>
            <a:off x="822960" y="1645920"/>
            <a:ext cx="822960" cy="822960"/>
          </a:xfrm>
          <a:prstGeom prst="ellipse">
            <a:avLst/>
          </a:prstGeom>
          <a:solidFill>
            <a:schemeClr val="accent3"/>
          </a:solidFill>
          <a:ln w="12700">
            <a:solidFill>
              <a:schemeClr val="accent3"/>
            </a:solidFill>
            <a:prstDash val="solid"/>
          </a:ln>
        </p:spPr>
      </p:sp>
      <p:pic>
        <p:nvPicPr>
          <p:cNvPr id="5" name="Strength 1 icon" descr="FaUsers">    </p:cNvPr>
          <p:cNvPicPr>
            <a:picLocks noChangeAspect="1"/>
          </p:cNvPicPr>
          <p:nvPr/>
        </p:nvPicPr>
        <p:blipFill>
          <a:blip r:embed="rId1"/>
          <a:stretch>
            <a:fillRect/>
          </a:stretch>
        </p:blipFill>
        <p:spPr>
          <a:xfrm>
            <a:off x="1036930" y="1859890"/>
            <a:ext cx="395021" cy="395021"/>
          </a:xfrm>
          <a:prstGeom prst="rect">
            <a:avLst/>
          </a:prstGeom>
        </p:spPr>
      </p:pic>
      <p:sp>
        <p:nvSpPr>
          <p:cNvPr id="6" name="Strength title 1"/>
          <p:cNvSpPr txBox="1"/>
          <p:nvPr/>
        </p:nvSpPr>
        <p:spPr>
          <a:xfrm>
            <a:off x="822960" y="2743200"/>
            <a:ext cx="3017520" cy="822960"/>
          </a:xfrm>
          <a:prstGeom prst="rect">
            <a:avLst/>
          </a:prstGeom>
          <a:noFill/>
          <a:ln/>
        </p:spPr>
        <p:txBody>
          <a:bodyPr wrap="square" lIns="0" tIns="0" rIns="0" bIns="0" rtlCol="0" anchor="t"/>
          <a:lstStyle/>
          <a:p>
            <a:pPr indent="0" marL="0">
              <a:buNone/>
            </a:pPr>
            <a:r>
              <a:rPr lang="en-US" sz="2000" b="1" dirty="0">
                <a:solidFill>
                  <a:schemeClr val="tx2"/>
                </a:solidFill>
              </a:rPr>
              <a:t>A real, easy-to-explain problem</a:t>
            </a:r>
            <a:endParaRPr lang="en-US" sz="2000" dirty="0"/>
          </a:p>
        </p:txBody>
      </p:sp>
      <p:sp>
        <p:nvSpPr>
          <p:cNvPr id="7" name="Strength text 1"/>
          <p:cNvSpPr txBox="1"/>
          <p:nvPr/>
        </p:nvSpPr>
        <p:spPr>
          <a:xfrm>
            <a:off x="822960" y="3703320"/>
            <a:ext cx="3017520" cy="2194560"/>
          </a:xfrm>
          <a:prstGeom prst="rect">
            <a:avLst/>
          </a:prstGeom>
          <a:noFill/>
          <a:ln/>
        </p:spPr>
        <p:txBody>
          <a:bodyPr wrap="square" lIns="0" tIns="0" rIns="0" bIns="0" rtlCol="0" anchor="t"/>
          <a:lstStyle/>
          <a:p>
            <a:pPr indent="0" marL="0">
              <a:buNone/>
            </a:pPr>
            <a:r>
              <a:rPr lang="en-US" sz="1600" dirty="0">
                <a:solidFill>
                  <a:schemeClr val="tx1"/>
                </a:solidFill>
              </a:rPr>
              <a:t>People with low literacy cannot navigate forms and portals to find training or jobs. Every judge understands it in one sentence.</a:t>
            </a:r>
            <a:endParaRPr lang="en-US" sz="1600" dirty="0"/>
          </a:p>
        </p:txBody>
      </p:sp>
      <p:sp>
        <p:nvSpPr>
          <p:cNvPr id="8" name="Strength card 2"/>
          <p:cNvSpPr/>
          <p:nvPr/>
        </p:nvSpPr>
        <p:spPr>
          <a:xfrm>
            <a:off x="4325112" y="1371600"/>
            <a:ext cx="3520440" cy="4663440"/>
          </a:xfrm>
          <a:prstGeom prst="roundRect">
            <a:avLst>
              <a:gd name="adj" fmla="val 3117"/>
            </a:avLst>
          </a:prstGeom>
          <a:solidFill>
            <a:schemeClr val="bg2"/>
          </a:solidFill>
          <a:ln w="12700">
            <a:solidFill>
              <a:schemeClr val="bg2"/>
            </a:solidFill>
            <a:prstDash val="solid"/>
          </a:ln>
        </p:spPr>
      </p:sp>
      <p:sp>
        <p:nvSpPr>
          <p:cNvPr id="9" name="Strength 2 circle"/>
          <p:cNvSpPr/>
          <p:nvPr/>
        </p:nvSpPr>
        <p:spPr>
          <a:xfrm>
            <a:off x="4599432" y="1645920"/>
            <a:ext cx="822960" cy="822960"/>
          </a:xfrm>
          <a:prstGeom prst="ellipse">
            <a:avLst/>
          </a:prstGeom>
          <a:solidFill>
            <a:schemeClr val="accent3"/>
          </a:solidFill>
          <a:ln w="12700">
            <a:solidFill>
              <a:schemeClr val="accent3"/>
            </a:solidFill>
            <a:prstDash val="solid"/>
          </a:ln>
        </p:spPr>
      </p:sp>
      <p:pic>
        <p:nvPicPr>
          <p:cNvPr id="10" name="Strength 2 icon" descr="FaMicrophone">    </p:cNvPr>
          <p:cNvPicPr>
            <a:picLocks noChangeAspect="1"/>
          </p:cNvPicPr>
          <p:nvPr/>
        </p:nvPicPr>
        <p:blipFill>
          <a:blip r:embed="rId2"/>
          <a:stretch>
            <a:fillRect/>
          </a:stretch>
        </p:blipFill>
        <p:spPr>
          <a:xfrm>
            <a:off x="4813402" y="1859890"/>
            <a:ext cx="395021" cy="395021"/>
          </a:xfrm>
          <a:prstGeom prst="rect">
            <a:avLst/>
          </a:prstGeom>
        </p:spPr>
      </p:pic>
      <p:sp>
        <p:nvSpPr>
          <p:cNvPr id="11" name="Strength title 2"/>
          <p:cNvSpPr txBox="1"/>
          <p:nvPr/>
        </p:nvSpPr>
        <p:spPr>
          <a:xfrm>
            <a:off x="4599432" y="2743200"/>
            <a:ext cx="3017520" cy="822960"/>
          </a:xfrm>
          <a:prstGeom prst="rect">
            <a:avLst/>
          </a:prstGeom>
          <a:noFill/>
          <a:ln/>
        </p:spPr>
        <p:txBody>
          <a:bodyPr wrap="square" lIns="0" tIns="0" rIns="0" bIns="0" rtlCol="0" anchor="t"/>
          <a:lstStyle/>
          <a:p>
            <a:pPr indent="0" marL="0">
              <a:buNone/>
            </a:pPr>
            <a:r>
              <a:rPr lang="en-US" sz="2000" b="1" dirty="0">
                <a:solidFill>
                  <a:schemeClr val="tx2"/>
                </a:solidFill>
              </a:rPr>
              <a:t>Voice-first and multilingual</a:t>
            </a:r>
            <a:endParaRPr lang="en-US" sz="2000" dirty="0"/>
          </a:p>
        </p:txBody>
      </p:sp>
      <p:sp>
        <p:nvSpPr>
          <p:cNvPr id="12" name="Strength text 2"/>
          <p:cNvSpPr txBox="1"/>
          <p:nvPr/>
        </p:nvSpPr>
        <p:spPr>
          <a:xfrm>
            <a:off x="4599432" y="3703320"/>
            <a:ext cx="3017520" cy="2194560"/>
          </a:xfrm>
          <a:prstGeom prst="rect">
            <a:avLst/>
          </a:prstGeom>
          <a:noFill/>
          <a:ln/>
        </p:spPr>
        <p:txBody>
          <a:bodyPr wrap="square" lIns="0" tIns="0" rIns="0" bIns="0" rtlCol="0" anchor="t"/>
          <a:lstStyle/>
          <a:p>
            <a:pPr indent="0" marL="0">
              <a:buNone/>
            </a:pPr>
            <a:r>
              <a:rPr lang="en-US" sz="1600" dirty="0">
                <a:solidFill>
                  <a:schemeClr val="tx1"/>
                </a:solidFill>
              </a:rPr>
              <a:t>A genuine inclusion angle: users speak instead of typing. It is also the easiest feature to demonstrate live.</a:t>
            </a:r>
            <a:endParaRPr lang="en-US" sz="1600" dirty="0"/>
          </a:p>
        </p:txBody>
      </p:sp>
      <p:sp>
        <p:nvSpPr>
          <p:cNvPr id="13" name="Strength card 3"/>
          <p:cNvSpPr/>
          <p:nvPr/>
        </p:nvSpPr>
        <p:spPr>
          <a:xfrm>
            <a:off x="8101584" y="1371600"/>
            <a:ext cx="3520440" cy="4663440"/>
          </a:xfrm>
          <a:prstGeom prst="roundRect">
            <a:avLst>
              <a:gd name="adj" fmla="val 3117"/>
            </a:avLst>
          </a:prstGeom>
          <a:solidFill>
            <a:schemeClr val="bg2"/>
          </a:solidFill>
          <a:ln w="12700">
            <a:solidFill>
              <a:schemeClr val="bg2"/>
            </a:solidFill>
            <a:prstDash val="solid"/>
          </a:ln>
        </p:spPr>
      </p:sp>
      <p:sp>
        <p:nvSpPr>
          <p:cNvPr id="14" name="Strength 3 circle"/>
          <p:cNvSpPr/>
          <p:nvPr/>
        </p:nvSpPr>
        <p:spPr>
          <a:xfrm>
            <a:off x="8375904" y="1645920"/>
            <a:ext cx="822960" cy="822960"/>
          </a:xfrm>
          <a:prstGeom prst="ellipse">
            <a:avLst/>
          </a:prstGeom>
          <a:solidFill>
            <a:schemeClr val="accent3"/>
          </a:solidFill>
          <a:ln w="12700">
            <a:solidFill>
              <a:schemeClr val="accent3"/>
            </a:solidFill>
            <a:prstDash val="solid"/>
          </a:ln>
        </p:spPr>
      </p:sp>
      <p:pic>
        <p:nvPicPr>
          <p:cNvPr id="15" name="Strength 3 icon" descr="FaRoute">    </p:cNvPr>
          <p:cNvPicPr>
            <a:picLocks noChangeAspect="1"/>
          </p:cNvPicPr>
          <p:nvPr/>
        </p:nvPicPr>
        <p:blipFill>
          <a:blip r:embed="rId3"/>
          <a:stretch>
            <a:fillRect/>
          </a:stretch>
        </p:blipFill>
        <p:spPr>
          <a:xfrm>
            <a:off x="8589874" y="1859890"/>
            <a:ext cx="395021" cy="395021"/>
          </a:xfrm>
          <a:prstGeom prst="rect">
            <a:avLst/>
          </a:prstGeom>
        </p:spPr>
      </p:pic>
      <p:sp>
        <p:nvSpPr>
          <p:cNvPr id="16" name="Strength title 3"/>
          <p:cNvSpPr txBox="1"/>
          <p:nvPr/>
        </p:nvSpPr>
        <p:spPr>
          <a:xfrm>
            <a:off x="8375904" y="2743200"/>
            <a:ext cx="3017520" cy="822960"/>
          </a:xfrm>
          <a:prstGeom prst="rect">
            <a:avLst/>
          </a:prstGeom>
          <a:noFill/>
          <a:ln/>
        </p:spPr>
        <p:txBody>
          <a:bodyPr wrap="square" lIns="0" tIns="0" rIns="0" bIns="0" rtlCol="0" anchor="t"/>
          <a:lstStyle/>
          <a:p>
            <a:pPr indent="0" marL="0">
              <a:buNone/>
            </a:pPr>
            <a:r>
              <a:rPr lang="en-US" sz="2000" b="1" dirty="0">
                <a:solidFill>
                  <a:schemeClr val="tx2"/>
                </a:solidFill>
              </a:rPr>
              <a:t>A coherent end-to-end story</a:t>
            </a:r>
            <a:endParaRPr lang="en-US" sz="2000" dirty="0"/>
          </a:p>
        </p:txBody>
      </p:sp>
      <p:sp>
        <p:nvSpPr>
          <p:cNvPr id="17" name="Strength text 3"/>
          <p:cNvSpPr txBox="1"/>
          <p:nvPr/>
        </p:nvSpPr>
        <p:spPr>
          <a:xfrm>
            <a:off x="8375904" y="3703320"/>
            <a:ext cx="3017520" cy="2194560"/>
          </a:xfrm>
          <a:prstGeom prst="rect">
            <a:avLst/>
          </a:prstGeom>
          <a:noFill/>
          <a:ln/>
        </p:spPr>
        <p:txBody>
          <a:bodyPr wrap="square" lIns="0" tIns="0" rIns="0" bIns="0" rtlCol="0" anchor="t"/>
          <a:lstStyle/>
          <a:p>
            <a:pPr indent="0" marL="0">
              <a:buNone/>
            </a:pPr>
            <a:r>
              <a:rPr lang="en-US" sz="1600" dirty="0">
                <a:solidFill>
                  <a:schemeClr val="tx1"/>
                </a:solidFill>
              </a:rPr>
              <a:t>Profile, skill gap, training, then a job or enterprise. The user is carried from first conversation to an application.</a:t>
            </a:r>
            <a:endParaRPr lang="en-US" sz="16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Gaps in our first version, and how we fixed them</a:t>
            </a:r>
            <a:endParaRPr lang="en-US" sz="3200" dirty="0"/>
          </a:p>
        </p:txBody>
      </p:sp>
      <p:sp>
        <p:nvSpPr>
          <p:cNvPr id="3" name="Gap header"/>
          <p:cNvSpPr txBox="1"/>
          <p:nvPr/>
        </p:nvSpPr>
        <p:spPr>
          <a:xfrm>
            <a:off x="548640" y="1280160"/>
            <a:ext cx="4480560" cy="320040"/>
          </a:xfrm>
          <a:prstGeom prst="rect">
            <a:avLst/>
          </a:prstGeom>
          <a:noFill/>
          <a:ln/>
        </p:spPr>
        <p:txBody>
          <a:bodyPr wrap="square" lIns="0" tIns="0" rIns="0" bIns="0" rtlCol="0" anchor="t"/>
          <a:lstStyle/>
          <a:p>
            <a:pPr indent="0" marL="0">
              <a:buNone/>
            </a:pPr>
            <a:r>
              <a:rPr lang="en-US" sz="1600" b="1" dirty="0">
                <a:solidFill>
                  <a:schemeClr val="accent4"/>
                </a:solidFill>
              </a:rPr>
              <a:t>Gap</a:t>
            </a:r>
            <a:endParaRPr lang="en-US" sz="1600" dirty="0"/>
          </a:p>
        </p:txBody>
      </p:sp>
      <p:sp>
        <p:nvSpPr>
          <p:cNvPr id="4" name="Fix header"/>
          <p:cNvSpPr txBox="1"/>
          <p:nvPr/>
        </p:nvSpPr>
        <p:spPr>
          <a:xfrm>
            <a:off x="5669280" y="1280160"/>
            <a:ext cx="5943600" cy="320040"/>
          </a:xfrm>
          <a:prstGeom prst="rect">
            <a:avLst/>
          </a:prstGeom>
          <a:noFill/>
          <a:ln/>
        </p:spPr>
        <p:txBody>
          <a:bodyPr wrap="square" lIns="0" tIns="0" rIns="0" bIns="0" rtlCol="0" anchor="t"/>
          <a:lstStyle/>
          <a:p>
            <a:pPr indent="0" marL="0">
              <a:buNone/>
            </a:pPr>
            <a:r>
              <a:rPr lang="en-US" sz="1600" b="1" dirty="0">
                <a:solidFill>
                  <a:schemeClr val="accent1"/>
                </a:solidFill>
              </a:rPr>
              <a:t>Fix</a:t>
            </a:r>
            <a:endParaRPr lang="en-US" sz="1600" dirty="0"/>
          </a:p>
        </p:txBody>
      </p:sp>
      <p:sp>
        <p:nvSpPr>
          <p:cNvPr id="5" name="Gap box 1"/>
          <p:cNvSpPr/>
          <p:nvPr/>
        </p:nvSpPr>
        <p:spPr>
          <a:xfrm>
            <a:off x="548640" y="1691640"/>
            <a:ext cx="4480560" cy="804672"/>
          </a:xfrm>
          <a:prstGeom prst="roundRect">
            <a:avLst>
              <a:gd name="adj" fmla="val 11364"/>
            </a:avLst>
          </a:prstGeom>
          <a:solidFill>
            <a:schemeClr val="accent4">
              <a:alpha val="12000"/>
            </a:schemeClr>
          </a:solidFill>
          <a:ln w="12700">
            <a:solidFill>
              <a:schemeClr val="accent4"/>
            </a:solidFill>
            <a:prstDash val="solid"/>
          </a:ln>
        </p:spPr>
      </p:sp>
      <p:sp>
        <p:nvSpPr>
          <p:cNvPr id="6" name="Gap text 1"/>
          <p:cNvSpPr txBox="1"/>
          <p:nvPr/>
        </p:nvSpPr>
        <p:spPr>
          <a:xfrm>
            <a:off x="685800" y="1691640"/>
            <a:ext cx="4206240" cy="804672"/>
          </a:xfrm>
          <a:prstGeom prst="rect">
            <a:avLst/>
          </a:prstGeom>
          <a:noFill/>
          <a:ln/>
        </p:spPr>
        <p:txBody>
          <a:bodyPr wrap="square" lIns="0" tIns="0" rIns="0" bIns="0" rtlCol="0" anchor="ctr"/>
          <a:lstStyle/>
          <a:p>
            <a:pPr indent="0" marL="0">
              <a:buNone/>
            </a:pPr>
            <a:r>
              <a:rPr lang="en-US" sz="1400" dirty="0">
                <a:solidFill>
                  <a:schemeClr val="tx1"/>
                </a:solidFill>
              </a:rPr>
              <a:t>Generic stack: LLM, RAG, Whisper and a vector DB look like every other team's.</a:t>
            </a:r>
            <a:endParaRPr lang="en-US" sz="1400" dirty="0"/>
          </a:p>
        </p:txBody>
      </p:sp>
      <p:sp>
        <p:nvSpPr>
          <p:cNvPr id="7" name="Gap arrow 1"/>
          <p:cNvSpPr/>
          <p:nvPr/>
        </p:nvSpPr>
        <p:spPr>
          <a:xfrm>
            <a:off x="5166360" y="1956816"/>
            <a:ext cx="320040" cy="274320"/>
          </a:xfrm>
          <a:prstGeom prst="rightArrow">
            <a:avLst/>
          </a:prstGeom>
          <a:solidFill>
            <a:schemeClr val="accent2"/>
          </a:solidFill>
          <a:ln w="12700">
            <a:solidFill>
              <a:schemeClr val="accent2"/>
            </a:solidFill>
            <a:prstDash val="solid"/>
          </a:ln>
        </p:spPr>
      </p:sp>
      <p:sp>
        <p:nvSpPr>
          <p:cNvPr id="8" name="Fix box 1"/>
          <p:cNvSpPr/>
          <p:nvPr/>
        </p:nvSpPr>
        <p:spPr>
          <a:xfrm>
            <a:off x="5669280" y="1691640"/>
            <a:ext cx="5943600" cy="804672"/>
          </a:xfrm>
          <a:prstGeom prst="roundRect">
            <a:avLst>
              <a:gd name="adj" fmla="val 11364"/>
            </a:avLst>
          </a:prstGeom>
          <a:solidFill>
            <a:schemeClr val="accent1">
              <a:alpha val="12000"/>
            </a:schemeClr>
          </a:solidFill>
          <a:ln w="12700">
            <a:solidFill>
              <a:schemeClr val="accent1"/>
            </a:solidFill>
            <a:prstDash val="solid"/>
          </a:ln>
        </p:spPr>
      </p:sp>
      <p:sp>
        <p:nvSpPr>
          <p:cNvPr id="9" name="Fix text 1"/>
          <p:cNvSpPr txBox="1"/>
          <p:nvPr/>
        </p:nvSpPr>
        <p:spPr>
          <a:xfrm>
            <a:off x="5806440" y="1691640"/>
            <a:ext cx="5669280" cy="804672"/>
          </a:xfrm>
          <a:prstGeom prst="rect">
            <a:avLst/>
          </a:prstGeom>
          <a:noFill/>
          <a:ln/>
        </p:spPr>
        <p:txBody>
          <a:bodyPr wrap="square" lIns="0" tIns="0" rIns="0" bIns="0" rtlCol="0" anchor="ctr"/>
          <a:lstStyle/>
          <a:p>
            <a:pPr indent="0" marL="0">
              <a:buNone/>
            </a:pPr>
            <a:r>
              <a:rPr lang="en-US" sz="1400" dirty="0">
                <a:solidFill>
                  <a:schemeClr val="tx1"/>
                </a:solidFill>
              </a:rPr>
              <a:t>The differentiator is a live-web action layer: TinyFish Search, Fetch and Agent find opportunities and act on them.</a:t>
            </a:r>
            <a:endParaRPr lang="en-US" sz="1400" dirty="0"/>
          </a:p>
        </p:txBody>
      </p:sp>
      <p:sp>
        <p:nvSpPr>
          <p:cNvPr id="10" name="Gap box 2"/>
          <p:cNvSpPr/>
          <p:nvPr/>
        </p:nvSpPr>
        <p:spPr>
          <a:xfrm>
            <a:off x="548640" y="2606040"/>
            <a:ext cx="4480560" cy="804672"/>
          </a:xfrm>
          <a:prstGeom prst="roundRect">
            <a:avLst>
              <a:gd name="adj" fmla="val 11364"/>
            </a:avLst>
          </a:prstGeom>
          <a:solidFill>
            <a:schemeClr val="accent4">
              <a:alpha val="12000"/>
            </a:schemeClr>
          </a:solidFill>
          <a:ln w="12700">
            <a:solidFill>
              <a:schemeClr val="accent4"/>
            </a:solidFill>
            <a:prstDash val="solid"/>
          </a:ln>
        </p:spPr>
      </p:sp>
      <p:sp>
        <p:nvSpPr>
          <p:cNvPr id="11" name="Gap text 2"/>
          <p:cNvSpPr txBox="1"/>
          <p:nvPr/>
        </p:nvSpPr>
        <p:spPr>
          <a:xfrm>
            <a:off x="685800" y="2606040"/>
            <a:ext cx="4206240" cy="804672"/>
          </a:xfrm>
          <a:prstGeom prst="rect">
            <a:avLst/>
          </a:prstGeom>
          <a:noFill/>
          <a:ln/>
        </p:spPr>
        <p:txBody>
          <a:bodyPr wrap="square" lIns="0" tIns="0" rIns="0" bIns="0" rtlCol="0" anchor="ctr"/>
          <a:lstStyle/>
          <a:p>
            <a:pPr indent="0" marL="0">
              <a:buNone/>
            </a:pPr>
            <a:r>
              <a:rPr lang="en-US" sz="1400" dirty="0">
                <a:solidFill>
                  <a:schemeClr val="tx1"/>
                </a:solidFill>
              </a:rPr>
              <a:t>Local job and training data was assumed, with no source, and static datasets go stale.</a:t>
            </a:r>
            <a:endParaRPr lang="en-US" sz="1400" dirty="0"/>
          </a:p>
        </p:txBody>
      </p:sp>
      <p:sp>
        <p:nvSpPr>
          <p:cNvPr id="12" name="Gap arrow 2"/>
          <p:cNvSpPr/>
          <p:nvPr/>
        </p:nvSpPr>
        <p:spPr>
          <a:xfrm>
            <a:off x="5166360" y="2871216"/>
            <a:ext cx="320040" cy="274320"/>
          </a:xfrm>
          <a:prstGeom prst="rightArrow">
            <a:avLst/>
          </a:prstGeom>
          <a:solidFill>
            <a:schemeClr val="accent2"/>
          </a:solidFill>
          <a:ln w="12700">
            <a:solidFill>
              <a:schemeClr val="accent2"/>
            </a:solidFill>
            <a:prstDash val="solid"/>
          </a:ln>
        </p:spPr>
      </p:sp>
      <p:sp>
        <p:nvSpPr>
          <p:cNvPr id="13" name="Fix box 2"/>
          <p:cNvSpPr/>
          <p:nvPr/>
        </p:nvSpPr>
        <p:spPr>
          <a:xfrm>
            <a:off x="5669280" y="2606040"/>
            <a:ext cx="5943600" cy="804672"/>
          </a:xfrm>
          <a:prstGeom prst="roundRect">
            <a:avLst>
              <a:gd name="adj" fmla="val 11364"/>
            </a:avLst>
          </a:prstGeom>
          <a:solidFill>
            <a:schemeClr val="accent1">
              <a:alpha val="12000"/>
            </a:schemeClr>
          </a:solidFill>
          <a:ln w="12700">
            <a:solidFill>
              <a:schemeClr val="accent1"/>
            </a:solidFill>
            <a:prstDash val="solid"/>
          </a:ln>
        </p:spPr>
      </p:sp>
      <p:sp>
        <p:nvSpPr>
          <p:cNvPr id="14" name="Fix text 2"/>
          <p:cNvSpPr txBox="1"/>
          <p:nvPr/>
        </p:nvSpPr>
        <p:spPr>
          <a:xfrm>
            <a:off x="5806440" y="2606040"/>
            <a:ext cx="5669280" cy="804672"/>
          </a:xfrm>
          <a:prstGeom prst="rect">
            <a:avLst/>
          </a:prstGeom>
          <a:noFill/>
          <a:ln/>
        </p:spPr>
        <p:txBody>
          <a:bodyPr wrap="square" lIns="0" tIns="0" rIns="0" bIns="0" rtlCol="0" anchor="ctr"/>
          <a:lstStyle/>
          <a:p>
            <a:pPr indent="0" marL="0">
              <a:buNone/>
            </a:pPr>
            <a:r>
              <a:rPr lang="en-US" sz="1400" dirty="0">
                <a:solidFill>
                  <a:schemeClr val="tx1"/>
                </a:solidFill>
              </a:rPr>
              <a:t>Opportunities are retrieved live at query time through TinyFish. Cached results are shown with their date.</a:t>
            </a:r>
            <a:endParaRPr lang="en-US" sz="1400" dirty="0"/>
          </a:p>
        </p:txBody>
      </p:sp>
      <p:sp>
        <p:nvSpPr>
          <p:cNvPr id="15" name="Gap box 3"/>
          <p:cNvSpPr/>
          <p:nvPr/>
        </p:nvSpPr>
        <p:spPr>
          <a:xfrm>
            <a:off x="548640" y="3520440"/>
            <a:ext cx="4480560" cy="804672"/>
          </a:xfrm>
          <a:prstGeom prst="roundRect">
            <a:avLst>
              <a:gd name="adj" fmla="val 11364"/>
            </a:avLst>
          </a:prstGeom>
          <a:solidFill>
            <a:schemeClr val="accent4">
              <a:alpha val="12000"/>
            </a:schemeClr>
          </a:solidFill>
          <a:ln w="12700">
            <a:solidFill>
              <a:schemeClr val="accent4"/>
            </a:solidFill>
            <a:prstDash val="solid"/>
          </a:ln>
        </p:spPr>
      </p:sp>
      <p:sp>
        <p:nvSpPr>
          <p:cNvPr id="16" name="Gap text 3"/>
          <p:cNvSpPr txBox="1"/>
          <p:nvPr/>
        </p:nvSpPr>
        <p:spPr>
          <a:xfrm>
            <a:off x="685800" y="3520440"/>
            <a:ext cx="4206240" cy="804672"/>
          </a:xfrm>
          <a:prstGeom prst="rect">
            <a:avLst/>
          </a:prstGeom>
          <a:noFill/>
          <a:ln/>
        </p:spPr>
        <p:txBody>
          <a:bodyPr wrap="square" lIns="0" tIns="0" rIns="0" bIns="0" rtlCol="0" anchor="ctr"/>
          <a:lstStyle/>
          <a:p>
            <a:pPr indent="0" marL="0">
              <a:buNone/>
            </a:pPr>
            <a:r>
              <a:rPr lang="en-US" sz="1400" dirty="0">
                <a:solidFill>
                  <a:schemeClr val="tx1"/>
                </a:solidFill>
              </a:rPr>
              <a:t>No quantified impact: no numbers on dropout, placement or time saved.</a:t>
            </a:r>
            <a:endParaRPr lang="en-US" sz="1400" dirty="0"/>
          </a:p>
        </p:txBody>
      </p:sp>
      <p:sp>
        <p:nvSpPr>
          <p:cNvPr id="17" name="Gap arrow 3"/>
          <p:cNvSpPr/>
          <p:nvPr/>
        </p:nvSpPr>
        <p:spPr>
          <a:xfrm>
            <a:off x="5166360" y="3785616"/>
            <a:ext cx="320040" cy="274320"/>
          </a:xfrm>
          <a:prstGeom prst="rightArrow">
            <a:avLst/>
          </a:prstGeom>
          <a:solidFill>
            <a:schemeClr val="accent2"/>
          </a:solidFill>
          <a:ln w="12700">
            <a:solidFill>
              <a:schemeClr val="accent2"/>
            </a:solidFill>
            <a:prstDash val="solid"/>
          </a:ln>
        </p:spPr>
      </p:sp>
      <p:sp>
        <p:nvSpPr>
          <p:cNvPr id="18" name="Fix box 3"/>
          <p:cNvSpPr/>
          <p:nvPr/>
        </p:nvSpPr>
        <p:spPr>
          <a:xfrm>
            <a:off x="5669280" y="3520440"/>
            <a:ext cx="5943600" cy="804672"/>
          </a:xfrm>
          <a:prstGeom prst="roundRect">
            <a:avLst>
              <a:gd name="adj" fmla="val 11364"/>
            </a:avLst>
          </a:prstGeom>
          <a:solidFill>
            <a:schemeClr val="accent1">
              <a:alpha val="12000"/>
            </a:schemeClr>
          </a:solidFill>
          <a:ln w="12700">
            <a:solidFill>
              <a:schemeClr val="accent1"/>
            </a:solidFill>
            <a:prstDash val="solid"/>
          </a:ln>
        </p:spPr>
      </p:sp>
      <p:sp>
        <p:nvSpPr>
          <p:cNvPr id="19" name="Fix text 3"/>
          <p:cNvSpPr txBox="1"/>
          <p:nvPr/>
        </p:nvSpPr>
        <p:spPr>
          <a:xfrm>
            <a:off x="5806440" y="3520440"/>
            <a:ext cx="5669280" cy="804672"/>
          </a:xfrm>
          <a:prstGeom prst="rect">
            <a:avLst/>
          </a:prstGeom>
          <a:noFill/>
          <a:ln/>
        </p:spPr>
        <p:txBody>
          <a:bodyPr wrap="square" lIns="0" tIns="0" rIns="0" bIns="0" rtlCol="0" anchor="ctr"/>
          <a:lstStyle/>
          <a:p>
            <a:pPr indent="0" marL="0">
              <a:buNone/>
            </a:pPr>
            <a:r>
              <a:rPr lang="en-US" sz="1400" dirty="0">
                <a:solidFill>
                  <a:schemeClr val="tx1"/>
                </a:solidFill>
              </a:rPr>
              <a:t>Baselines from NSDC and ministry sources, plus measurable pilot KPIs: time to profile, match rate, completed applications.</a:t>
            </a:r>
            <a:endParaRPr lang="en-US" sz="1400" dirty="0"/>
          </a:p>
        </p:txBody>
      </p:sp>
      <p:sp>
        <p:nvSpPr>
          <p:cNvPr id="20" name="Gap box 4"/>
          <p:cNvSpPr/>
          <p:nvPr/>
        </p:nvSpPr>
        <p:spPr>
          <a:xfrm>
            <a:off x="548640" y="4434840"/>
            <a:ext cx="4480560" cy="804672"/>
          </a:xfrm>
          <a:prstGeom prst="roundRect">
            <a:avLst>
              <a:gd name="adj" fmla="val 11364"/>
            </a:avLst>
          </a:prstGeom>
          <a:solidFill>
            <a:schemeClr val="accent4">
              <a:alpha val="12000"/>
            </a:schemeClr>
          </a:solidFill>
          <a:ln w="12700">
            <a:solidFill>
              <a:schemeClr val="accent4"/>
            </a:solidFill>
            <a:prstDash val="solid"/>
          </a:ln>
        </p:spPr>
      </p:sp>
      <p:sp>
        <p:nvSpPr>
          <p:cNvPr id="21" name="Gap text 4"/>
          <p:cNvSpPr txBox="1"/>
          <p:nvPr/>
        </p:nvSpPr>
        <p:spPr>
          <a:xfrm>
            <a:off x="685800" y="4434840"/>
            <a:ext cx="4206240" cy="804672"/>
          </a:xfrm>
          <a:prstGeom prst="rect">
            <a:avLst/>
          </a:prstGeom>
          <a:noFill/>
          <a:ln/>
        </p:spPr>
        <p:txBody>
          <a:bodyPr wrap="square" lIns="0" tIns="0" rIns="0" bIns="0" rtlCol="0" anchor="ctr"/>
          <a:lstStyle/>
          <a:p>
            <a:pPr indent="0" marL="0">
              <a:buNone/>
            </a:pPr>
            <a:r>
              <a:rPr lang="en-US" sz="1400" dirty="0">
                <a:solidFill>
                  <a:schemeClr val="tx1"/>
                </a:solidFill>
              </a:rPr>
              <a:t>Tied to PM-AJAY and SC communities, which narrows an open-innovation problem.</a:t>
            </a:r>
            <a:endParaRPr lang="en-US" sz="1400" dirty="0"/>
          </a:p>
        </p:txBody>
      </p:sp>
      <p:sp>
        <p:nvSpPr>
          <p:cNvPr id="22" name="Gap arrow 4"/>
          <p:cNvSpPr/>
          <p:nvPr/>
        </p:nvSpPr>
        <p:spPr>
          <a:xfrm>
            <a:off x="5166360" y="4700016"/>
            <a:ext cx="320040" cy="274320"/>
          </a:xfrm>
          <a:prstGeom prst="rightArrow">
            <a:avLst/>
          </a:prstGeom>
          <a:solidFill>
            <a:schemeClr val="accent2"/>
          </a:solidFill>
          <a:ln w="12700">
            <a:solidFill>
              <a:schemeClr val="accent2"/>
            </a:solidFill>
            <a:prstDash val="solid"/>
          </a:ln>
        </p:spPr>
      </p:sp>
      <p:sp>
        <p:nvSpPr>
          <p:cNvPr id="23" name="Fix box 4"/>
          <p:cNvSpPr/>
          <p:nvPr/>
        </p:nvSpPr>
        <p:spPr>
          <a:xfrm>
            <a:off x="5669280" y="4434840"/>
            <a:ext cx="5943600" cy="804672"/>
          </a:xfrm>
          <a:prstGeom prst="roundRect">
            <a:avLst>
              <a:gd name="adj" fmla="val 11364"/>
            </a:avLst>
          </a:prstGeom>
          <a:solidFill>
            <a:schemeClr val="accent1">
              <a:alpha val="12000"/>
            </a:schemeClr>
          </a:solidFill>
          <a:ln w="12700">
            <a:solidFill>
              <a:schemeClr val="accent1"/>
            </a:solidFill>
            <a:prstDash val="solid"/>
          </a:ln>
        </p:spPr>
      </p:sp>
      <p:sp>
        <p:nvSpPr>
          <p:cNvPr id="24" name="Fix text 4"/>
          <p:cNvSpPr txBox="1"/>
          <p:nvPr/>
        </p:nvSpPr>
        <p:spPr>
          <a:xfrm>
            <a:off x="5806440" y="4434840"/>
            <a:ext cx="5669280" cy="804672"/>
          </a:xfrm>
          <a:prstGeom prst="rect">
            <a:avLst/>
          </a:prstGeom>
          <a:noFill/>
          <a:ln/>
        </p:spPr>
        <p:txBody>
          <a:bodyPr wrap="square" lIns="0" tIns="0" rIns="0" bIns="0" rtlCol="0" anchor="ctr"/>
          <a:lstStyle/>
          <a:p>
            <a:pPr indent="0" marL="0">
              <a:buNone/>
            </a:pPr>
            <a:r>
              <a:rPr lang="en-US" sz="1400" dirty="0">
                <a:solidFill>
                  <a:schemeClr val="tx1"/>
                </a:solidFill>
              </a:rPr>
              <a:t>Framed for any low-literacy job seeker. PM-AJAY stays as one deployment, not the whole scope.</a:t>
            </a:r>
            <a:endParaRPr lang="en-US" sz="1400" dirty="0"/>
          </a:p>
        </p:txBody>
      </p:sp>
      <p:sp>
        <p:nvSpPr>
          <p:cNvPr id="25" name="Gap box 5"/>
          <p:cNvSpPr/>
          <p:nvPr/>
        </p:nvSpPr>
        <p:spPr>
          <a:xfrm>
            <a:off x="548640" y="5349240"/>
            <a:ext cx="4480560" cy="804672"/>
          </a:xfrm>
          <a:prstGeom prst="roundRect">
            <a:avLst>
              <a:gd name="adj" fmla="val 11364"/>
            </a:avLst>
          </a:prstGeom>
          <a:solidFill>
            <a:schemeClr val="accent4">
              <a:alpha val="12000"/>
            </a:schemeClr>
          </a:solidFill>
          <a:ln w="12700">
            <a:solidFill>
              <a:schemeClr val="accent4"/>
            </a:solidFill>
            <a:prstDash val="solid"/>
          </a:ln>
        </p:spPr>
      </p:sp>
      <p:sp>
        <p:nvSpPr>
          <p:cNvPr id="26" name="Gap text 5"/>
          <p:cNvSpPr txBox="1"/>
          <p:nvPr/>
        </p:nvSpPr>
        <p:spPr>
          <a:xfrm>
            <a:off x="685800" y="5349240"/>
            <a:ext cx="4206240" cy="804672"/>
          </a:xfrm>
          <a:prstGeom prst="rect">
            <a:avLst/>
          </a:prstGeom>
          <a:noFill/>
          <a:ln/>
        </p:spPr>
        <p:txBody>
          <a:bodyPr wrap="square" lIns="0" tIns="0" rIns="0" bIns="0" rtlCol="0" anchor="ctr"/>
          <a:lstStyle/>
          <a:p>
            <a:pPr indent="0" marL="0">
              <a:buNone/>
            </a:pPr>
            <a:r>
              <a:rPr lang="en-US" sz="1400" dirty="0">
                <a:solidFill>
                  <a:schemeClr val="tx1"/>
                </a:solidFill>
              </a:rPr>
              <a:t>Thin references, including Reddit and Wikipedia.</a:t>
            </a:r>
            <a:endParaRPr lang="en-US" sz="1400" dirty="0"/>
          </a:p>
        </p:txBody>
      </p:sp>
      <p:sp>
        <p:nvSpPr>
          <p:cNvPr id="27" name="Gap arrow 5"/>
          <p:cNvSpPr/>
          <p:nvPr/>
        </p:nvSpPr>
        <p:spPr>
          <a:xfrm>
            <a:off x="5166360" y="5614416"/>
            <a:ext cx="320040" cy="274320"/>
          </a:xfrm>
          <a:prstGeom prst="rightArrow">
            <a:avLst/>
          </a:prstGeom>
          <a:solidFill>
            <a:schemeClr val="accent2"/>
          </a:solidFill>
          <a:ln w="12700">
            <a:solidFill>
              <a:schemeClr val="accent2"/>
            </a:solidFill>
            <a:prstDash val="solid"/>
          </a:ln>
        </p:spPr>
      </p:sp>
      <p:sp>
        <p:nvSpPr>
          <p:cNvPr id="28" name="Fix box 5"/>
          <p:cNvSpPr/>
          <p:nvPr/>
        </p:nvSpPr>
        <p:spPr>
          <a:xfrm>
            <a:off x="5669280" y="5349240"/>
            <a:ext cx="5943600" cy="804672"/>
          </a:xfrm>
          <a:prstGeom prst="roundRect">
            <a:avLst>
              <a:gd name="adj" fmla="val 11364"/>
            </a:avLst>
          </a:prstGeom>
          <a:solidFill>
            <a:schemeClr val="accent1">
              <a:alpha val="12000"/>
            </a:schemeClr>
          </a:solidFill>
          <a:ln w="12700">
            <a:solidFill>
              <a:schemeClr val="accent1"/>
            </a:solidFill>
            <a:prstDash val="solid"/>
          </a:ln>
        </p:spPr>
      </p:sp>
      <p:sp>
        <p:nvSpPr>
          <p:cNvPr id="29" name="Fix text 5"/>
          <p:cNvSpPr txBox="1"/>
          <p:nvPr/>
        </p:nvSpPr>
        <p:spPr>
          <a:xfrm>
            <a:off x="5806440" y="5349240"/>
            <a:ext cx="5669280" cy="804672"/>
          </a:xfrm>
          <a:prstGeom prst="rect">
            <a:avLst/>
          </a:prstGeom>
          <a:noFill/>
          <a:ln/>
        </p:spPr>
        <p:txBody>
          <a:bodyPr wrap="square" lIns="0" tIns="0" rIns="0" bIns="0" rtlCol="0" anchor="ctr"/>
          <a:lstStyle/>
          <a:p>
            <a:pPr indent="0" marL="0">
              <a:buNone/>
            </a:pPr>
            <a:r>
              <a:rPr lang="en-US" sz="1400" dirty="0">
                <a:solidFill>
                  <a:schemeClr val="tx1"/>
                </a:solidFill>
              </a:rPr>
              <a:t>Only government, NSDC and TinyFish documentation sources (see References).</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Expected impact</a:t>
            </a:r>
            <a:endParaRPr lang="en-US" sz="3200" dirty="0"/>
          </a:p>
        </p:txBody>
      </p:sp>
      <p:graphicFrame>
        <p:nvGraphicFramePr>
          <p:cNvPr id="3" name="Chart 0" descr=""/>
          <p:cNvGraphicFramePr/>
          <p:nvPr/>
        </p:nvGraphicFramePr>
        <p:xfrm>
          <a:off x="548640" y="1371600"/>
          <a:ext cx="5669280" cy="3931920"/>
        </p:xfrm>
        <a:graphic xmlns:a="http://schemas.openxmlformats.org/drawingml/2006/main">
          <a:graphicData uri="http://schemas.openxmlformats.org/drawingml/2006/chart">
            <c:chart xmlns:c="http://schemas.openxmlformats.org/drawingml/2006/chart" r:id="rId1"/>
          </a:graphicData>
        </a:graphic>
      </p:graphicFrame>
      <p:sp>
        <p:nvSpPr>
          <p:cNvPr id="4" name="Chart caption"/>
          <p:cNvSpPr txBox="1"/>
          <p:nvPr/>
        </p:nvSpPr>
        <p:spPr>
          <a:xfrm>
            <a:off x="548640" y="5440680"/>
            <a:ext cx="5669280" cy="731520"/>
          </a:xfrm>
          <a:prstGeom prst="rect">
            <a:avLst/>
          </a:prstGeom>
          <a:noFill/>
          <a:ln/>
        </p:spPr>
        <p:txBody>
          <a:bodyPr wrap="square" lIns="0" tIns="0" rIns="0" bIns="0" rtlCol="0" anchor="t"/>
          <a:lstStyle/>
          <a:p>
            <a:pPr indent="0" marL="0">
              <a:buNone/>
            </a:pPr>
            <a:r>
              <a:rPr lang="en-US" sz="1200" dirty="0">
                <a:solidFill>
                  <a:schemeClr val="accent5"/>
                </a:solidFill>
              </a:rPr>
              <a:t>Younger trainees were placed least often. Personalised matching targets exactly this group. Source: NSDC, PMKVY STT Program Analytics, Nov 2020.</a:t>
            </a:r>
            <a:endParaRPr lang="en-US" sz="1200" dirty="0"/>
          </a:p>
        </p:txBody>
      </p:sp>
      <p:sp>
        <p:nvSpPr>
          <p:cNvPr id="5" name="KPI heading"/>
          <p:cNvSpPr txBox="1"/>
          <p:nvPr/>
        </p:nvSpPr>
        <p:spPr>
          <a:xfrm>
            <a:off x="6583680" y="1325880"/>
            <a:ext cx="5029200" cy="365760"/>
          </a:xfrm>
          <a:prstGeom prst="rect">
            <a:avLst/>
          </a:prstGeom>
          <a:noFill/>
          <a:ln/>
        </p:spPr>
        <p:txBody>
          <a:bodyPr wrap="square" lIns="0" tIns="0" rIns="0" bIns="0" rtlCol="0" anchor="t"/>
          <a:lstStyle/>
          <a:p>
            <a:pPr indent="0" marL="0">
              <a:buNone/>
            </a:pPr>
            <a:r>
              <a:rPr lang="en-US" sz="2000" b="1" dirty="0">
                <a:solidFill>
                  <a:schemeClr val="tx2"/>
                </a:solidFill>
              </a:rPr>
              <a:t>What we will measure in the pilot</a:t>
            </a:r>
            <a:endParaRPr lang="en-US" sz="2000" dirty="0"/>
          </a:p>
        </p:txBody>
      </p:sp>
      <p:sp>
        <p:nvSpPr>
          <p:cNvPr id="6" name="KPI card 1"/>
          <p:cNvSpPr/>
          <p:nvPr/>
        </p:nvSpPr>
        <p:spPr>
          <a:xfrm>
            <a:off x="6583680" y="1783080"/>
            <a:ext cx="5029200" cy="694944"/>
          </a:xfrm>
          <a:prstGeom prst="roundRect">
            <a:avLst>
              <a:gd name="adj" fmla="val 15789"/>
            </a:avLst>
          </a:prstGeom>
          <a:solidFill>
            <a:schemeClr val="bg2"/>
          </a:solidFill>
          <a:ln w="12700">
            <a:solidFill>
              <a:schemeClr val="bg2"/>
            </a:solidFill>
            <a:prstDash val="solid"/>
          </a:ln>
        </p:spPr>
      </p:sp>
      <p:sp>
        <p:nvSpPr>
          <p:cNvPr id="7" name="KPI 1 circle"/>
          <p:cNvSpPr/>
          <p:nvPr/>
        </p:nvSpPr>
        <p:spPr>
          <a:xfrm>
            <a:off x="6720840" y="1874520"/>
            <a:ext cx="512064" cy="512064"/>
          </a:xfrm>
          <a:prstGeom prst="ellipse">
            <a:avLst/>
          </a:prstGeom>
          <a:solidFill>
            <a:schemeClr val="accent1"/>
          </a:solidFill>
          <a:ln w="12700">
            <a:solidFill>
              <a:schemeClr val="accent1"/>
            </a:solidFill>
            <a:prstDash val="solid"/>
          </a:ln>
        </p:spPr>
      </p:sp>
      <p:pic>
        <p:nvPicPr>
          <p:cNvPr id="8" name="KPI 1 icon" descr="FaClock">    </p:cNvPr>
          <p:cNvPicPr>
            <a:picLocks noChangeAspect="1"/>
          </p:cNvPicPr>
          <p:nvPr/>
        </p:nvPicPr>
        <p:blipFill>
          <a:blip r:embed="rId2"/>
          <a:stretch>
            <a:fillRect/>
          </a:stretch>
        </p:blipFill>
        <p:spPr>
          <a:xfrm>
            <a:off x="6853977" y="2007657"/>
            <a:ext cx="245791" cy="245791"/>
          </a:xfrm>
          <a:prstGeom prst="rect">
            <a:avLst/>
          </a:prstGeom>
        </p:spPr>
      </p:pic>
      <p:sp>
        <p:nvSpPr>
          <p:cNvPr id="9" name="KPI text 1"/>
          <p:cNvSpPr txBox="1"/>
          <p:nvPr/>
        </p:nvSpPr>
        <p:spPr>
          <a:xfrm>
            <a:off x="7406640" y="1783080"/>
            <a:ext cx="4114800" cy="694944"/>
          </a:xfrm>
          <a:prstGeom prst="rect">
            <a:avLst/>
          </a:prstGeom>
          <a:noFill/>
          <a:ln/>
        </p:spPr>
        <p:txBody>
          <a:bodyPr wrap="square" lIns="0" tIns="0" rIns="0" bIns="0" rtlCol="0" anchor="ctr"/>
          <a:lstStyle/>
          <a:p>
            <a:pPr indent="0" marL="0">
              <a:buNone/>
            </a:pPr>
            <a:r>
              <a:rPr lang="en-US" sz="1400" dirty="0">
                <a:solidFill>
                  <a:schemeClr val="tx1"/>
                </a:solidFill>
              </a:rPr>
              <a:t>Time to a complete profile, versus form-based entry</a:t>
            </a:r>
            <a:endParaRPr lang="en-US" sz="1400" dirty="0"/>
          </a:p>
        </p:txBody>
      </p:sp>
      <p:sp>
        <p:nvSpPr>
          <p:cNvPr id="10" name="KPI card 2"/>
          <p:cNvSpPr/>
          <p:nvPr/>
        </p:nvSpPr>
        <p:spPr>
          <a:xfrm>
            <a:off x="6583680" y="2569464"/>
            <a:ext cx="5029200" cy="694944"/>
          </a:xfrm>
          <a:prstGeom prst="roundRect">
            <a:avLst>
              <a:gd name="adj" fmla="val 15789"/>
            </a:avLst>
          </a:prstGeom>
          <a:solidFill>
            <a:schemeClr val="bg2"/>
          </a:solidFill>
          <a:ln w="12700">
            <a:solidFill>
              <a:schemeClr val="bg2"/>
            </a:solidFill>
            <a:prstDash val="solid"/>
          </a:ln>
        </p:spPr>
      </p:sp>
      <p:sp>
        <p:nvSpPr>
          <p:cNvPr id="11" name="KPI 2 circle"/>
          <p:cNvSpPr/>
          <p:nvPr/>
        </p:nvSpPr>
        <p:spPr>
          <a:xfrm>
            <a:off x="6720840" y="2660904"/>
            <a:ext cx="512064" cy="512064"/>
          </a:xfrm>
          <a:prstGeom prst="ellipse">
            <a:avLst/>
          </a:prstGeom>
          <a:solidFill>
            <a:schemeClr val="accent1"/>
          </a:solidFill>
          <a:ln w="12700">
            <a:solidFill>
              <a:schemeClr val="accent1"/>
            </a:solidFill>
            <a:prstDash val="solid"/>
          </a:ln>
        </p:spPr>
      </p:sp>
      <p:pic>
        <p:nvPicPr>
          <p:cNvPr id="12" name="KPI 2 icon" descr="FaMapMarkerAlt">    </p:cNvPr>
          <p:cNvPicPr>
            <a:picLocks noChangeAspect="1"/>
          </p:cNvPicPr>
          <p:nvPr/>
        </p:nvPicPr>
        <p:blipFill>
          <a:blip r:embed="rId3"/>
          <a:stretch>
            <a:fillRect/>
          </a:stretch>
        </p:blipFill>
        <p:spPr>
          <a:xfrm>
            <a:off x="6853977" y="2794041"/>
            <a:ext cx="245791" cy="245791"/>
          </a:xfrm>
          <a:prstGeom prst="rect">
            <a:avLst/>
          </a:prstGeom>
        </p:spPr>
      </p:pic>
      <p:sp>
        <p:nvSpPr>
          <p:cNvPr id="13" name="KPI text 2"/>
          <p:cNvSpPr txBox="1"/>
          <p:nvPr/>
        </p:nvSpPr>
        <p:spPr>
          <a:xfrm>
            <a:off x="7406640" y="2569464"/>
            <a:ext cx="4114800" cy="694944"/>
          </a:xfrm>
          <a:prstGeom prst="rect">
            <a:avLst/>
          </a:prstGeom>
          <a:noFill/>
          <a:ln/>
        </p:spPr>
        <p:txBody>
          <a:bodyPr wrap="square" lIns="0" tIns="0" rIns="0" bIns="0" rtlCol="0" anchor="ctr"/>
          <a:lstStyle/>
          <a:p>
            <a:pPr indent="0" marL="0">
              <a:buNone/>
            </a:pPr>
            <a:r>
              <a:rPr lang="en-US" sz="1400" dirty="0">
                <a:solidFill>
                  <a:schemeClr val="tx1"/>
                </a:solidFill>
              </a:rPr>
              <a:t>Share of users matched to at least one live, reachable opportunity</a:t>
            </a:r>
            <a:endParaRPr lang="en-US" sz="1400" dirty="0"/>
          </a:p>
        </p:txBody>
      </p:sp>
      <p:sp>
        <p:nvSpPr>
          <p:cNvPr id="14" name="KPI card 3"/>
          <p:cNvSpPr/>
          <p:nvPr/>
        </p:nvSpPr>
        <p:spPr>
          <a:xfrm>
            <a:off x="6583680" y="3355848"/>
            <a:ext cx="5029200" cy="694944"/>
          </a:xfrm>
          <a:prstGeom prst="roundRect">
            <a:avLst>
              <a:gd name="adj" fmla="val 15789"/>
            </a:avLst>
          </a:prstGeom>
          <a:solidFill>
            <a:schemeClr val="bg2"/>
          </a:solidFill>
          <a:ln w="12700">
            <a:solidFill>
              <a:schemeClr val="bg2"/>
            </a:solidFill>
            <a:prstDash val="solid"/>
          </a:ln>
        </p:spPr>
      </p:sp>
      <p:sp>
        <p:nvSpPr>
          <p:cNvPr id="15" name="KPI 3 circle"/>
          <p:cNvSpPr/>
          <p:nvPr/>
        </p:nvSpPr>
        <p:spPr>
          <a:xfrm>
            <a:off x="6720840" y="3447288"/>
            <a:ext cx="512064" cy="512064"/>
          </a:xfrm>
          <a:prstGeom prst="ellipse">
            <a:avLst/>
          </a:prstGeom>
          <a:solidFill>
            <a:schemeClr val="accent1"/>
          </a:solidFill>
          <a:ln w="12700">
            <a:solidFill>
              <a:schemeClr val="accent1"/>
            </a:solidFill>
            <a:prstDash val="solid"/>
          </a:ln>
        </p:spPr>
      </p:sp>
      <p:pic>
        <p:nvPicPr>
          <p:cNvPr id="16" name="KPI 3 icon" descr="FaCheckCircle">    </p:cNvPr>
          <p:cNvPicPr>
            <a:picLocks noChangeAspect="1"/>
          </p:cNvPicPr>
          <p:nvPr/>
        </p:nvPicPr>
        <p:blipFill>
          <a:blip r:embed="rId4"/>
          <a:stretch>
            <a:fillRect/>
          </a:stretch>
        </p:blipFill>
        <p:spPr>
          <a:xfrm>
            <a:off x="6853977" y="3580425"/>
            <a:ext cx="245791" cy="245791"/>
          </a:xfrm>
          <a:prstGeom prst="rect">
            <a:avLst/>
          </a:prstGeom>
        </p:spPr>
      </p:pic>
      <p:sp>
        <p:nvSpPr>
          <p:cNvPr id="17" name="KPI text 3"/>
          <p:cNvSpPr txBox="1"/>
          <p:nvPr/>
        </p:nvSpPr>
        <p:spPr>
          <a:xfrm>
            <a:off x="7406640" y="3355848"/>
            <a:ext cx="4114800" cy="694944"/>
          </a:xfrm>
          <a:prstGeom prst="rect">
            <a:avLst/>
          </a:prstGeom>
          <a:noFill/>
          <a:ln/>
        </p:spPr>
        <p:txBody>
          <a:bodyPr wrap="square" lIns="0" tIns="0" rIns="0" bIns="0" rtlCol="0" anchor="ctr"/>
          <a:lstStyle/>
          <a:p>
            <a:pPr indent="0" marL="0">
              <a:buNone/>
            </a:pPr>
            <a:r>
              <a:rPr lang="en-US" sz="1400" dirty="0">
                <a:solidFill>
                  <a:schemeClr val="tx1"/>
                </a:solidFill>
              </a:rPr>
              <a:t>Assisted applications completed</a:t>
            </a:r>
            <a:endParaRPr lang="en-US" sz="1400" dirty="0"/>
          </a:p>
        </p:txBody>
      </p:sp>
      <p:sp>
        <p:nvSpPr>
          <p:cNvPr id="18" name="KPI card 4"/>
          <p:cNvSpPr/>
          <p:nvPr/>
        </p:nvSpPr>
        <p:spPr>
          <a:xfrm>
            <a:off x="6583680" y="4142232"/>
            <a:ext cx="5029200" cy="694944"/>
          </a:xfrm>
          <a:prstGeom prst="roundRect">
            <a:avLst>
              <a:gd name="adj" fmla="val 15789"/>
            </a:avLst>
          </a:prstGeom>
          <a:solidFill>
            <a:schemeClr val="bg2"/>
          </a:solidFill>
          <a:ln w="12700">
            <a:solidFill>
              <a:schemeClr val="bg2"/>
            </a:solidFill>
            <a:prstDash val="solid"/>
          </a:ln>
        </p:spPr>
      </p:sp>
      <p:sp>
        <p:nvSpPr>
          <p:cNvPr id="19" name="KPI 4 circle"/>
          <p:cNvSpPr/>
          <p:nvPr/>
        </p:nvSpPr>
        <p:spPr>
          <a:xfrm>
            <a:off x="6720840" y="4233672"/>
            <a:ext cx="512064" cy="512064"/>
          </a:xfrm>
          <a:prstGeom prst="ellipse">
            <a:avLst/>
          </a:prstGeom>
          <a:solidFill>
            <a:schemeClr val="accent1"/>
          </a:solidFill>
          <a:ln w="12700">
            <a:solidFill>
              <a:schemeClr val="accent1"/>
            </a:solidFill>
            <a:prstDash val="solid"/>
          </a:ln>
        </p:spPr>
      </p:sp>
      <p:pic>
        <p:nvPicPr>
          <p:cNvPr id="20" name="KPI 4 icon" descr="FaGraduationCap">    </p:cNvPr>
          <p:cNvPicPr>
            <a:picLocks noChangeAspect="1"/>
          </p:cNvPicPr>
          <p:nvPr/>
        </p:nvPicPr>
        <p:blipFill>
          <a:blip r:embed="rId5"/>
          <a:stretch>
            <a:fillRect/>
          </a:stretch>
        </p:blipFill>
        <p:spPr>
          <a:xfrm>
            <a:off x="6853977" y="4366809"/>
            <a:ext cx="245791" cy="245791"/>
          </a:xfrm>
          <a:prstGeom prst="rect">
            <a:avLst/>
          </a:prstGeom>
        </p:spPr>
      </p:pic>
      <p:sp>
        <p:nvSpPr>
          <p:cNvPr id="21" name="KPI text 4"/>
          <p:cNvSpPr txBox="1"/>
          <p:nvPr/>
        </p:nvSpPr>
        <p:spPr>
          <a:xfrm>
            <a:off x="7406640" y="4142232"/>
            <a:ext cx="4114800" cy="694944"/>
          </a:xfrm>
          <a:prstGeom prst="rect">
            <a:avLst/>
          </a:prstGeom>
          <a:noFill/>
          <a:ln/>
        </p:spPr>
        <p:txBody>
          <a:bodyPr wrap="square" lIns="0" tIns="0" rIns="0" bIns="0" rtlCol="0" anchor="ctr"/>
          <a:lstStyle/>
          <a:p>
            <a:pPr indent="0" marL="0">
              <a:buNone/>
            </a:pPr>
            <a:r>
              <a:rPr lang="en-US" sz="1400" dirty="0">
                <a:solidFill>
                  <a:schemeClr val="tx1"/>
                </a:solidFill>
              </a:rPr>
              <a:t>Training completion among matched learners versus the baseline</a:t>
            </a:r>
            <a:endParaRPr lang="en-US" sz="1400" dirty="0"/>
          </a:p>
        </p:txBody>
      </p:sp>
      <p:sp>
        <p:nvSpPr>
          <p:cNvPr id="22" name="KPI card 5"/>
          <p:cNvSpPr/>
          <p:nvPr/>
        </p:nvSpPr>
        <p:spPr>
          <a:xfrm>
            <a:off x="6583680" y="4928616"/>
            <a:ext cx="5029200" cy="694944"/>
          </a:xfrm>
          <a:prstGeom prst="roundRect">
            <a:avLst>
              <a:gd name="adj" fmla="val 15789"/>
            </a:avLst>
          </a:prstGeom>
          <a:solidFill>
            <a:schemeClr val="bg2"/>
          </a:solidFill>
          <a:ln w="12700">
            <a:solidFill>
              <a:schemeClr val="bg2"/>
            </a:solidFill>
            <a:prstDash val="solid"/>
          </a:ln>
        </p:spPr>
      </p:sp>
      <p:sp>
        <p:nvSpPr>
          <p:cNvPr id="23" name="KPI 5 circle"/>
          <p:cNvSpPr/>
          <p:nvPr/>
        </p:nvSpPr>
        <p:spPr>
          <a:xfrm>
            <a:off x="6720840" y="5020056"/>
            <a:ext cx="512064" cy="512064"/>
          </a:xfrm>
          <a:prstGeom prst="ellipse">
            <a:avLst/>
          </a:prstGeom>
          <a:solidFill>
            <a:schemeClr val="accent1"/>
          </a:solidFill>
          <a:ln w="12700">
            <a:solidFill>
              <a:schemeClr val="accent1"/>
            </a:solidFill>
            <a:prstDash val="solid"/>
          </a:ln>
        </p:spPr>
      </p:sp>
      <p:pic>
        <p:nvPicPr>
          <p:cNvPr id="24" name="KPI 5 icon" descr="FaDatabase">    </p:cNvPr>
          <p:cNvPicPr>
            <a:picLocks noChangeAspect="1"/>
          </p:cNvPicPr>
          <p:nvPr/>
        </p:nvPicPr>
        <p:blipFill>
          <a:blip r:embed="rId6"/>
          <a:stretch>
            <a:fillRect/>
          </a:stretch>
        </p:blipFill>
        <p:spPr>
          <a:xfrm>
            <a:off x="6853977" y="5153193"/>
            <a:ext cx="245791" cy="245791"/>
          </a:xfrm>
          <a:prstGeom prst="rect">
            <a:avLst/>
          </a:prstGeom>
        </p:spPr>
      </p:pic>
      <p:sp>
        <p:nvSpPr>
          <p:cNvPr id="25" name="KPI text 5"/>
          <p:cNvSpPr txBox="1"/>
          <p:nvPr/>
        </p:nvSpPr>
        <p:spPr>
          <a:xfrm>
            <a:off x="7406640" y="4928616"/>
            <a:ext cx="4114800" cy="694944"/>
          </a:xfrm>
          <a:prstGeom prst="rect">
            <a:avLst/>
          </a:prstGeom>
          <a:noFill/>
          <a:ln/>
        </p:spPr>
        <p:txBody>
          <a:bodyPr wrap="square" lIns="0" tIns="0" rIns="0" bIns="0" rtlCol="0" anchor="ctr"/>
          <a:lstStyle/>
          <a:p>
            <a:pPr indent="0" marL="0">
              <a:buNone/>
            </a:pPr>
            <a:r>
              <a:rPr lang="en-US" sz="1400" dirty="0">
                <a:solidFill>
                  <a:schemeClr val="tx1"/>
                </a:solidFill>
              </a:rPr>
              <a:t>Anonymised demand data that shows districts with skill gaps</a:t>
            </a:r>
            <a:endParaRPr lang="en-US" sz="1400" dirty="0"/>
          </a:p>
        </p:txBody>
      </p:sp>
      <p:sp>
        <p:nvSpPr>
          <p:cNvPr id="26" name="KPI note"/>
          <p:cNvSpPr txBox="1"/>
          <p:nvPr/>
        </p:nvSpPr>
        <p:spPr>
          <a:xfrm>
            <a:off x="6583680" y="5806440"/>
            <a:ext cx="5029200" cy="365760"/>
          </a:xfrm>
          <a:prstGeom prst="rect">
            <a:avLst/>
          </a:prstGeom>
          <a:noFill/>
          <a:ln/>
        </p:spPr>
        <p:txBody>
          <a:bodyPr wrap="square" lIns="0" tIns="0" rIns="0" bIns="0" rtlCol="0" anchor="t"/>
          <a:lstStyle/>
          <a:p>
            <a:pPr indent="0" marL="0">
              <a:buNone/>
            </a:pPr>
            <a:r>
              <a:rPr lang="en-US" sz="1400" i="1" dirty="0">
                <a:solidFill>
                  <a:schemeClr val="accent5"/>
                </a:solidFill>
              </a:rPr>
              <a:t>Targets will be set from pilot baselines. We make no outcome claims yet.</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Feasibility: what we can build in 24 hours</a:t>
            </a:r>
            <a:endParaRPr lang="en-US" sz="3200" dirty="0"/>
          </a:p>
        </p:txBody>
      </p:sp>
      <p:sp>
        <p:nvSpPr>
          <p:cNvPr id="3" name="Demo scope panel"/>
          <p:cNvSpPr/>
          <p:nvPr/>
        </p:nvSpPr>
        <p:spPr>
          <a:xfrm>
            <a:off x="548640" y="1371600"/>
            <a:ext cx="4480560" cy="4718304"/>
          </a:xfrm>
          <a:prstGeom prst="roundRect">
            <a:avLst>
              <a:gd name="adj" fmla="val 2449"/>
            </a:avLst>
          </a:prstGeom>
          <a:solidFill>
            <a:schemeClr val="tx2"/>
          </a:solidFill>
          <a:ln w="12700">
            <a:solidFill>
              <a:schemeClr val="bg2"/>
            </a:solidFill>
            <a:prstDash val="solid"/>
          </a:ln>
        </p:spPr>
      </p:sp>
      <p:sp>
        <p:nvSpPr>
          <p:cNvPr id="4" name="Scope heading"/>
          <p:cNvSpPr txBox="1"/>
          <p:nvPr/>
        </p:nvSpPr>
        <p:spPr>
          <a:xfrm>
            <a:off x="822960" y="1554480"/>
            <a:ext cx="3931920" cy="365760"/>
          </a:xfrm>
          <a:prstGeom prst="rect">
            <a:avLst/>
          </a:prstGeom>
          <a:noFill/>
          <a:ln/>
        </p:spPr>
        <p:txBody>
          <a:bodyPr wrap="square" lIns="0" tIns="0" rIns="0" bIns="0" rtlCol="0" anchor="t"/>
          <a:lstStyle/>
          <a:p>
            <a:pPr indent="0" marL="0">
              <a:buNone/>
            </a:pPr>
            <a:r>
              <a:rPr lang="en-US" sz="2000" b="1" dirty="0">
                <a:solidFill>
                  <a:schemeClr val="accent2"/>
                </a:solidFill>
              </a:rPr>
              <a:t>Demo scope</a:t>
            </a:r>
            <a:endParaRPr lang="en-US" sz="2000" dirty="0"/>
          </a:p>
        </p:txBody>
      </p:sp>
      <p:sp>
        <p:nvSpPr>
          <p:cNvPr id="5" name="Scope number circle 1"/>
          <p:cNvSpPr/>
          <p:nvPr/>
        </p:nvSpPr>
        <p:spPr>
          <a:xfrm>
            <a:off x="822960" y="2240280"/>
            <a:ext cx="502920" cy="502920"/>
          </a:xfrm>
          <a:prstGeom prst="ellipse">
            <a:avLst/>
          </a:prstGeom>
          <a:solidFill>
            <a:schemeClr val="accent2"/>
          </a:solidFill>
          <a:ln w="12700">
            <a:solidFill>
              <a:schemeClr val="accent2"/>
            </a:solidFill>
            <a:prstDash val="solid"/>
          </a:ln>
        </p:spPr>
      </p:sp>
      <p:sp>
        <p:nvSpPr>
          <p:cNvPr id="6" name="Scope number 1"/>
          <p:cNvSpPr txBox="1"/>
          <p:nvPr/>
        </p:nvSpPr>
        <p:spPr>
          <a:xfrm>
            <a:off x="822960" y="224028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7" name="Scope text 1"/>
          <p:cNvSpPr txBox="1"/>
          <p:nvPr/>
        </p:nvSpPr>
        <p:spPr>
          <a:xfrm>
            <a:off x="1554480" y="2194560"/>
            <a:ext cx="3246120" cy="1005840"/>
          </a:xfrm>
          <a:prstGeom prst="rect">
            <a:avLst/>
          </a:prstGeom>
          <a:noFill/>
          <a:ln/>
        </p:spPr>
        <p:txBody>
          <a:bodyPr wrap="square" lIns="0" tIns="0" rIns="0" bIns="0" rtlCol="0" anchor="t"/>
          <a:lstStyle/>
          <a:p>
            <a:pPr indent="0" marL="0">
              <a:buNone/>
            </a:pPr>
            <a:r>
              <a:rPr lang="en-US" sz="1600" dirty="0">
                <a:solidFill>
                  <a:schemeClr val="bg1"/>
                </a:solidFill>
              </a:rPr>
              <a:t>Hindi voice input, with a text fallback</a:t>
            </a:r>
            <a:endParaRPr lang="en-US" sz="1600" dirty="0"/>
          </a:p>
        </p:txBody>
      </p:sp>
      <p:sp>
        <p:nvSpPr>
          <p:cNvPr id="8" name="Scope number circle 2"/>
          <p:cNvSpPr/>
          <p:nvPr/>
        </p:nvSpPr>
        <p:spPr>
          <a:xfrm>
            <a:off x="822960" y="3474720"/>
            <a:ext cx="502920" cy="502920"/>
          </a:xfrm>
          <a:prstGeom prst="ellipse">
            <a:avLst/>
          </a:prstGeom>
          <a:solidFill>
            <a:schemeClr val="accent2"/>
          </a:solidFill>
          <a:ln w="12700">
            <a:solidFill>
              <a:schemeClr val="accent2"/>
            </a:solidFill>
            <a:prstDash val="solid"/>
          </a:ln>
        </p:spPr>
      </p:sp>
      <p:sp>
        <p:nvSpPr>
          <p:cNvPr id="9" name="Scope number 2"/>
          <p:cNvSpPr txBox="1"/>
          <p:nvPr/>
        </p:nvSpPr>
        <p:spPr>
          <a:xfrm>
            <a:off x="822960" y="347472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10" name="Scope text 2"/>
          <p:cNvSpPr txBox="1"/>
          <p:nvPr/>
        </p:nvSpPr>
        <p:spPr>
          <a:xfrm>
            <a:off x="1554480" y="3429000"/>
            <a:ext cx="3246120" cy="1005840"/>
          </a:xfrm>
          <a:prstGeom prst="rect">
            <a:avLst/>
          </a:prstGeom>
          <a:noFill/>
          <a:ln/>
        </p:spPr>
        <p:txBody>
          <a:bodyPr wrap="square" lIns="0" tIns="0" rIns="0" bIns="0" rtlCol="0" anchor="t"/>
          <a:lstStyle/>
          <a:p>
            <a:pPr indent="0" marL="0">
              <a:buNone/>
            </a:pPr>
            <a:r>
              <a:rPr lang="en-US" sz="1600" dirty="0">
                <a:solidFill>
                  <a:schemeClr val="bg1"/>
                </a:solidFill>
              </a:rPr>
              <a:t>One district's live training and job listings through TinyFish</a:t>
            </a:r>
            <a:endParaRPr lang="en-US" sz="1600" dirty="0"/>
          </a:p>
        </p:txBody>
      </p:sp>
      <p:sp>
        <p:nvSpPr>
          <p:cNvPr id="11" name="Scope number circle 3"/>
          <p:cNvSpPr/>
          <p:nvPr/>
        </p:nvSpPr>
        <p:spPr>
          <a:xfrm>
            <a:off x="822960" y="4709160"/>
            <a:ext cx="502920" cy="502920"/>
          </a:xfrm>
          <a:prstGeom prst="ellipse">
            <a:avLst/>
          </a:prstGeom>
          <a:solidFill>
            <a:schemeClr val="accent2"/>
          </a:solidFill>
          <a:ln w="12700">
            <a:solidFill>
              <a:schemeClr val="accent2"/>
            </a:solidFill>
            <a:prstDash val="solid"/>
          </a:ln>
        </p:spPr>
      </p:sp>
      <p:sp>
        <p:nvSpPr>
          <p:cNvPr id="12" name="Scope number 3"/>
          <p:cNvSpPr txBox="1"/>
          <p:nvPr/>
        </p:nvSpPr>
        <p:spPr>
          <a:xfrm>
            <a:off x="822960" y="4709160"/>
            <a:ext cx="502920" cy="50292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3" name="Scope text 3"/>
          <p:cNvSpPr txBox="1"/>
          <p:nvPr/>
        </p:nvSpPr>
        <p:spPr>
          <a:xfrm>
            <a:off x="1554480" y="4663440"/>
            <a:ext cx="3246120" cy="1005840"/>
          </a:xfrm>
          <a:prstGeom prst="rect">
            <a:avLst/>
          </a:prstGeom>
          <a:noFill/>
          <a:ln/>
        </p:spPr>
        <p:txBody>
          <a:bodyPr wrap="square" lIns="0" tIns="0" rIns="0" bIns="0" rtlCol="0" anchor="t"/>
          <a:lstStyle/>
          <a:p>
            <a:pPr indent="0" marL="0">
              <a:buNone/>
            </a:pPr>
            <a:r>
              <a:rPr lang="en-US" sz="1600" dirty="0">
                <a:solidFill>
                  <a:schemeClr val="bg1"/>
                </a:solidFill>
              </a:rPr>
              <a:t>One complete flow: speak, match, find, pre-fill, confirm</a:t>
            </a:r>
            <a:endParaRPr lang="en-US" sz="1600" dirty="0"/>
          </a:p>
        </p:txBody>
      </p:sp>
      <p:sp>
        <p:nvSpPr>
          <p:cNvPr id="14" name="Risk card 1"/>
          <p:cNvSpPr/>
          <p:nvPr/>
        </p:nvSpPr>
        <p:spPr>
          <a:xfrm>
            <a:off x="5303520" y="1371600"/>
            <a:ext cx="6309360" cy="1097280"/>
          </a:xfrm>
          <a:prstGeom prst="roundRect">
            <a:avLst>
              <a:gd name="adj" fmla="val 10000"/>
            </a:avLst>
          </a:prstGeom>
          <a:solidFill>
            <a:schemeClr val="bg2"/>
          </a:solidFill>
          <a:ln w="12700">
            <a:solidFill>
              <a:schemeClr val="bg2"/>
            </a:solidFill>
            <a:prstDash val="solid"/>
          </a:ln>
        </p:spPr>
      </p:sp>
      <p:sp>
        <p:nvSpPr>
          <p:cNvPr id="15" name="Risk 1 circle"/>
          <p:cNvSpPr/>
          <p:nvPr/>
        </p:nvSpPr>
        <p:spPr>
          <a:xfrm>
            <a:off x="5486400" y="1645920"/>
            <a:ext cx="548640" cy="548640"/>
          </a:xfrm>
          <a:prstGeom prst="ellipse">
            <a:avLst/>
          </a:prstGeom>
          <a:solidFill>
            <a:schemeClr val="accent4"/>
          </a:solidFill>
          <a:ln w="12700">
            <a:solidFill>
              <a:schemeClr val="accent4"/>
            </a:solidFill>
            <a:prstDash val="solid"/>
          </a:ln>
        </p:spPr>
      </p:sp>
      <p:pic>
        <p:nvPicPr>
          <p:cNvPr id="16" name="Risk 1 icon" descr="FaExclamationTriangle">    </p:cNvPr>
          <p:cNvPicPr>
            <a:picLocks noChangeAspect="1"/>
          </p:cNvPicPr>
          <p:nvPr/>
        </p:nvPicPr>
        <p:blipFill>
          <a:blip r:embed="rId1"/>
          <a:stretch>
            <a:fillRect/>
          </a:stretch>
        </p:blipFill>
        <p:spPr>
          <a:xfrm>
            <a:off x="5629046" y="1788566"/>
            <a:ext cx="263347" cy="263347"/>
          </a:xfrm>
          <a:prstGeom prst="rect">
            <a:avLst/>
          </a:prstGeom>
        </p:spPr>
      </p:pic>
      <p:sp>
        <p:nvSpPr>
          <p:cNvPr id="17" name="Risk title 1"/>
          <p:cNvSpPr txBox="1"/>
          <p:nvPr/>
        </p:nvSpPr>
        <p:spPr>
          <a:xfrm>
            <a:off x="6263640" y="1481328"/>
            <a:ext cx="5212080" cy="320040"/>
          </a:xfrm>
          <a:prstGeom prst="rect">
            <a:avLst/>
          </a:prstGeom>
          <a:noFill/>
          <a:ln/>
        </p:spPr>
        <p:txBody>
          <a:bodyPr wrap="square" lIns="0" tIns="0" rIns="0" bIns="0" rtlCol="0" anchor="t"/>
          <a:lstStyle/>
          <a:p>
            <a:pPr indent="0" marL="0">
              <a:buNone/>
            </a:pPr>
            <a:r>
              <a:rPr lang="en-US" sz="1600" b="1" dirty="0">
                <a:solidFill>
                  <a:schemeClr val="tx2"/>
                </a:solidFill>
              </a:rPr>
              <a:t>Dialect and speech accuracy</a:t>
            </a:r>
            <a:endParaRPr lang="en-US" sz="1600" dirty="0"/>
          </a:p>
        </p:txBody>
      </p:sp>
      <p:sp>
        <p:nvSpPr>
          <p:cNvPr id="18" name="Risk text 1"/>
          <p:cNvSpPr txBox="1"/>
          <p:nvPr/>
        </p:nvSpPr>
        <p:spPr>
          <a:xfrm>
            <a:off x="6263640" y="1828800"/>
            <a:ext cx="5212080" cy="594360"/>
          </a:xfrm>
          <a:prstGeom prst="rect">
            <a:avLst/>
          </a:prstGeom>
          <a:noFill/>
          <a:ln/>
        </p:spPr>
        <p:txBody>
          <a:bodyPr wrap="square" lIns="0" tIns="0" rIns="0" bIns="0" rtlCol="0" anchor="t"/>
          <a:lstStyle/>
          <a:p>
            <a:pPr indent="0" marL="0">
              <a:buNone/>
            </a:pPr>
            <a:r>
              <a:rPr lang="en-US" sz="1400" dirty="0">
                <a:solidFill>
                  <a:schemeClr val="tx1"/>
                </a:solidFill>
              </a:rPr>
              <a:t>Indic STT with confirmation prompts, and a fall back to text or a typed choice.</a:t>
            </a:r>
            <a:endParaRPr lang="en-US" sz="1400" dirty="0"/>
          </a:p>
        </p:txBody>
      </p:sp>
      <p:sp>
        <p:nvSpPr>
          <p:cNvPr id="19" name="Risk card 2"/>
          <p:cNvSpPr/>
          <p:nvPr/>
        </p:nvSpPr>
        <p:spPr>
          <a:xfrm>
            <a:off x="5303520" y="2578608"/>
            <a:ext cx="6309360" cy="1097280"/>
          </a:xfrm>
          <a:prstGeom prst="roundRect">
            <a:avLst>
              <a:gd name="adj" fmla="val 10000"/>
            </a:avLst>
          </a:prstGeom>
          <a:solidFill>
            <a:schemeClr val="bg2"/>
          </a:solidFill>
          <a:ln w="12700">
            <a:solidFill>
              <a:schemeClr val="bg2"/>
            </a:solidFill>
            <a:prstDash val="solid"/>
          </a:ln>
        </p:spPr>
      </p:sp>
      <p:sp>
        <p:nvSpPr>
          <p:cNvPr id="20" name="Risk 2 circle"/>
          <p:cNvSpPr/>
          <p:nvPr/>
        </p:nvSpPr>
        <p:spPr>
          <a:xfrm>
            <a:off x="5486400" y="2852928"/>
            <a:ext cx="548640" cy="548640"/>
          </a:xfrm>
          <a:prstGeom prst="ellipse">
            <a:avLst/>
          </a:prstGeom>
          <a:solidFill>
            <a:schemeClr val="accent4"/>
          </a:solidFill>
          <a:ln w="12700">
            <a:solidFill>
              <a:schemeClr val="accent4"/>
            </a:solidFill>
            <a:prstDash val="solid"/>
          </a:ln>
        </p:spPr>
      </p:sp>
      <p:pic>
        <p:nvPicPr>
          <p:cNvPr id="21" name="Risk 2 icon" descr="FaExclamationTriangle">    </p:cNvPr>
          <p:cNvPicPr>
            <a:picLocks noChangeAspect="1"/>
          </p:cNvPicPr>
          <p:nvPr/>
        </p:nvPicPr>
        <p:blipFill>
          <a:blip r:embed="rId2"/>
          <a:stretch>
            <a:fillRect/>
          </a:stretch>
        </p:blipFill>
        <p:spPr>
          <a:xfrm>
            <a:off x="5629046" y="2995574"/>
            <a:ext cx="263347" cy="263347"/>
          </a:xfrm>
          <a:prstGeom prst="rect">
            <a:avLst/>
          </a:prstGeom>
        </p:spPr>
      </p:pic>
      <p:sp>
        <p:nvSpPr>
          <p:cNvPr id="22" name="Risk title 2"/>
          <p:cNvSpPr txBox="1"/>
          <p:nvPr/>
        </p:nvSpPr>
        <p:spPr>
          <a:xfrm>
            <a:off x="6263640" y="2688336"/>
            <a:ext cx="5212080" cy="320040"/>
          </a:xfrm>
          <a:prstGeom prst="rect">
            <a:avLst/>
          </a:prstGeom>
          <a:noFill/>
          <a:ln/>
        </p:spPr>
        <p:txBody>
          <a:bodyPr wrap="square" lIns="0" tIns="0" rIns="0" bIns="0" rtlCol="0" anchor="t"/>
          <a:lstStyle/>
          <a:p>
            <a:pPr indent="0" marL="0">
              <a:buNone/>
            </a:pPr>
            <a:r>
              <a:rPr lang="en-US" sz="1600" b="1" dirty="0">
                <a:solidFill>
                  <a:schemeClr val="tx2"/>
                </a:solidFill>
              </a:rPr>
              <a:t>Portals change or block automation</a:t>
            </a:r>
            <a:endParaRPr lang="en-US" sz="1600" dirty="0"/>
          </a:p>
        </p:txBody>
      </p:sp>
      <p:sp>
        <p:nvSpPr>
          <p:cNvPr id="23" name="Risk text 2"/>
          <p:cNvSpPr txBox="1"/>
          <p:nvPr/>
        </p:nvSpPr>
        <p:spPr>
          <a:xfrm>
            <a:off x="6263640" y="3035808"/>
            <a:ext cx="5212080" cy="594360"/>
          </a:xfrm>
          <a:prstGeom prst="rect">
            <a:avLst/>
          </a:prstGeom>
          <a:noFill/>
          <a:ln/>
        </p:spPr>
        <p:txBody>
          <a:bodyPr wrap="square" lIns="0" tIns="0" rIns="0" bIns="0" rtlCol="0" anchor="t"/>
          <a:lstStyle/>
          <a:p>
            <a:pPr indent="0" marL="0">
              <a:buNone/>
            </a:pPr>
            <a:r>
              <a:rPr lang="en-US" sz="1400" dirty="0">
                <a:solidFill>
                  <a:schemeClr val="tx1"/>
                </a:solidFill>
              </a:rPr>
              <a:t>Search and Fetch first, Agent only for form filling, Browser API as backup. Cached results carry their date.</a:t>
            </a:r>
            <a:endParaRPr lang="en-US" sz="1400" dirty="0"/>
          </a:p>
        </p:txBody>
      </p:sp>
      <p:sp>
        <p:nvSpPr>
          <p:cNvPr id="24" name="Risk card 3"/>
          <p:cNvSpPr/>
          <p:nvPr/>
        </p:nvSpPr>
        <p:spPr>
          <a:xfrm>
            <a:off x="5303520" y="3785616"/>
            <a:ext cx="6309360" cy="1097280"/>
          </a:xfrm>
          <a:prstGeom prst="roundRect">
            <a:avLst>
              <a:gd name="adj" fmla="val 10000"/>
            </a:avLst>
          </a:prstGeom>
          <a:solidFill>
            <a:schemeClr val="bg2"/>
          </a:solidFill>
          <a:ln w="12700">
            <a:solidFill>
              <a:schemeClr val="bg2"/>
            </a:solidFill>
            <a:prstDash val="solid"/>
          </a:ln>
        </p:spPr>
      </p:sp>
      <p:sp>
        <p:nvSpPr>
          <p:cNvPr id="25" name="Risk 3 circle"/>
          <p:cNvSpPr/>
          <p:nvPr/>
        </p:nvSpPr>
        <p:spPr>
          <a:xfrm>
            <a:off x="5486400" y="4059936"/>
            <a:ext cx="548640" cy="548640"/>
          </a:xfrm>
          <a:prstGeom prst="ellipse">
            <a:avLst/>
          </a:prstGeom>
          <a:solidFill>
            <a:schemeClr val="accent4"/>
          </a:solidFill>
          <a:ln w="12700">
            <a:solidFill>
              <a:schemeClr val="accent4"/>
            </a:solidFill>
            <a:prstDash val="solid"/>
          </a:ln>
        </p:spPr>
      </p:sp>
      <p:pic>
        <p:nvPicPr>
          <p:cNvPr id="26" name="Risk 3 icon" descr="FaExclamationTriangle">    </p:cNvPr>
          <p:cNvPicPr>
            <a:picLocks noChangeAspect="1"/>
          </p:cNvPicPr>
          <p:nvPr/>
        </p:nvPicPr>
        <p:blipFill>
          <a:blip r:embed="rId3"/>
          <a:stretch>
            <a:fillRect/>
          </a:stretch>
        </p:blipFill>
        <p:spPr>
          <a:xfrm>
            <a:off x="5629046" y="4202582"/>
            <a:ext cx="263347" cy="263347"/>
          </a:xfrm>
          <a:prstGeom prst="rect">
            <a:avLst/>
          </a:prstGeom>
        </p:spPr>
      </p:pic>
      <p:sp>
        <p:nvSpPr>
          <p:cNvPr id="27" name="Risk title 3"/>
          <p:cNvSpPr txBox="1"/>
          <p:nvPr/>
        </p:nvSpPr>
        <p:spPr>
          <a:xfrm>
            <a:off x="6263640" y="3895344"/>
            <a:ext cx="5212080" cy="320040"/>
          </a:xfrm>
          <a:prstGeom prst="rect">
            <a:avLst/>
          </a:prstGeom>
          <a:noFill/>
          <a:ln/>
        </p:spPr>
        <p:txBody>
          <a:bodyPr wrap="square" lIns="0" tIns="0" rIns="0" bIns="0" rtlCol="0" anchor="t"/>
          <a:lstStyle/>
          <a:p>
            <a:pPr indent="0" marL="0">
              <a:buNone/>
            </a:pPr>
            <a:r>
              <a:rPr lang="en-US" sz="1600" b="1" dirty="0">
                <a:solidFill>
                  <a:schemeClr val="tx2"/>
                </a:solidFill>
              </a:rPr>
              <a:t>Wrong or biased recommendations</a:t>
            </a:r>
            <a:endParaRPr lang="en-US" sz="1600" dirty="0"/>
          </a:p>
        </p:txBody>
      </p:sp>
      <p:sp>
        <p:nvSpPr>
          <p:cNvPr id="28" name="Risk text 3"/>
          <p:cNvSpPr txBox="1"/>
          <p:nvPr/>
        </p:nvSpPr>
        <p:spPr>
          <a:xfrm>
            <a:off x="6263640" y="4242816"/>
            <a:ext cx="5212080" cy="594360"/>
          </a:xfrm>
          <a:prstGeom prst="rect">
            <a:avLst/>
          </a:prstGeom>
          <a:noFill/>
          <a:ln/>
        </p:spPr>
        <p:txBody>
          <a:bodyPr wrap="square" lIns="0" tIns="0" rIns="0" bIns="0" rtlCol="0" anchor="t"/>
          <a:lstStyle/>
          <a:p>
            <a:pPr indent="0" marL="0">
              <a:buNone/>
            </a:pPr>
            <a:r>
              <a:rPr lang="en-US" sz="1400" dirty="0">
                <a:solidFill>
                  <a:schemeClr val="tx1"/>
                </a:solidFill>
              </a:rPr>
              <a:t>Answers grounded in fetched pages with source links. The user always sees why an option was suggested.</a:t>
            </a:r>
            <a:endParaRPr lang="en-US" sz="1400" dirty="0"/>
          </a:p>
        </p:txBody>
      </p:sp>
      <p:sp>
        <p:nvSpPr>
          <p:cNvPr id="29" name="Risk card 4"/>
          <p:cNvSpPr/>
          <p:nvPr/>
        </p:nvSpPr>
        <p:spPr>
          <a:xfrm>
            <a:off x="5303520" y="4992624"/>
            <a:ext cx="6309360" cy="1097280"/>
          </a:xfrm>
          <a:prstGeom prst="roundRect">
            <a:avLst>
              <a:gd name="adj" fmla="val 10000"/>
            </a:avLst>
          </a:prstGeom>
          <a:solidFill>
            <a:schemeClr val="bg2"/>
          </a:solidFill>
          <a:ln w="12700">
            <a:solidFill>
              <a:schemeClr val="bg2"/>
            </a:solidFill>
            <a:prstDash val="solid"/>
          </a:ln>
        </p:spPr>
      </p:sp>
      <p:sp>
        <p:nvSpPr>
          <p:cNvPr id="30" name="Risk 4 circle"/>
          <p:cNvSpPr/>
          <p:nvPr/>
        </p:nvSpPr>
        <p:spPr>
          <a:xfrm>
            <a:off x="5486400" y="5266944"/>
            <a:ext cx="548640" cy="548640"/>
          </a:xfrm>
          <a:prstGeom prst="ellipse">
            <a:avLst/>
          </a:prstGeom>
          <a:solidFill>
            <a:schemeClr val="accent4"/>
          </a:solidFill>
          <a:ln w="12700">
            <a:solidFill>
              <a:schemeClr val="accent4"/>
            </a:solidFill>
            <a:prstDash val="solid"/>
          </a:ln>
        </p:spPr>
      </p:sp>
      <p:pic>
        <p:nvPicPr>
          <p:cNvPr id="31" name="Risk 4 icon" descr="FaExclamationTriangle">    </p:cNvPr>
          <p:cNvPicPr>
            <a:picLocks noChangeAspect="1"/>
          </p:cNvPicPr>
          <p:nvPr/>
        </p:nvPicPr>
        <p:blipFill>
          <a:blip r:embed="rId4"/>
          <a:stretch>
            <a:fillRect/>
          </a:stretch>
        </p:blipFill>
        <p:spPr>
          <a:xfrm>
            <a:off x="5629046" y="5409590"/>
            <a:ext cx="263347" cy="263347"/>
          </a:xfrm>
          <a:prstGeom prst="rect">
            <a:avLst/>
          </a:prstGeom>
        </p:spPr>
      </p:pic>
      <p:sp>
        <p:nvSpPr>
          <p:cNvPr id="32" name="Risk title 4"/>
          <p:cNvSpPr txBox="1"/>
          <p:nvPr/>
        </p:nvSpPr>
        <p:spPr>
          <a:xfrm>
            <a:off x="6263640" y="5102352"/>
            <a:ext cx="5212080" cy="320040"/>
          </a:xfrm>
          <a:prstGeom prst="rect">
            <a:avLst/>
          </a:prstGeom>
          <a:noFill/>
          <a:ln/>
        </p:spPr>
        <p:txBody>
          <a:bodyPr wrap="square" lIns="0" tIns="0" rIns="0" bIns="0" rtlCol="0" anchor="t"/>
          <a:lstStyle/>
          <a:p>
            <a:pPr indent="0" marL="0">
              <a:buNone/>
            </a:pPr>
            <a:r>
              <a:rPr lang="en-US" sz="1600" b="1" dirty="0">
                <a:solidFill>
                  <a:schemeClr val="tx2"/>
                </a:solidFill>
              </a:rPr>
              <a:t>Privacy of personal data</a:t>
            </a:r>
            <a:endParaRPr lang="en-US" sz="1600" dirty="0"/>
          </a:p>
        </p:txBody>
      </p:sp>
      <p:sp>
        <p:nvSpPr>
          <p:cNvPr id="33" name="Risk text 4"/>
          <p:cNvSpPr txBox="1"/>
          <p:nvPr/>
        </p:nvSpPr>
        <p:spPr>
          <a:xfrm>
            <a:off x="6263640" y="5449824"/>
            <a:ext cx="5212080" cy="594360"/>
          </a:xfrm>
          <a:prstGeom prst="rect">
            <a:avLst/>
          </a:prstGeom>
          <a:noFill/>
          <a:ln/>
        </p:spPr>
        <p:txBody>
          <a:bodyPr wrap="square" lIns="0" tIns="0" rIns="0" bIns="0" rtlCol="0" anchor="t"/>
          <a:lstStyle/>
          <a:p>
            <a:pPr indent="0" marL="0">
              <a:buNone/>
            </a:pPr>
            <a:r>
              <a:rPr lang="en-US" sz="1400" dirty="0">
                <a:solidFill>
                  <a:schemeClr val="tx1"/>
                </a:solidFill>
              </a:rPr>
              <a:t>Collect only what matching needs, store no portal credentials, and ask for explicit consent before any submission.</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Future scope</a:t>
            </a:r>
            <a:endParaRPr lang="en-US" sz="3200" dirty="0"/>
          </a:p>
        </p:txBody>
      </p:sp>
      <p:sp>
        <p:nvSpPr>
          <p:cNvPr id="3" name="Timeline line"/>
          <p:cNvSpPr/>
          <p:nvPr/>
        </p:nvSpPr>
        <p:spPr>
          <a:xfrm>
            <a:off x="1097280" y="1965960"/>
            <a:ext cx="9966960" cy="0"/>
          </a:xfrm>
          <a:prstGeom prst="line">
            <a:avLst/>
          </a:prstGeom>
          <a:noFill/>
          <a:ln w="38100">
            <a:solidFill>
              <a:schemeClr val="accent6"/>
            </a:solidFill>
            <a:prstDash val="solid"/>
          </a:ln>
        </p:spPr>
      </p:sp>
      <p:sp>
        <p:nvSpPr>
          <p:cNvPr id="4" name="Phase circle 1"/>
          <p:cNvSpPr/>
          <p:nvPr/>
        </p:nvSpPr>
        <p:spPr>
          <a:xfrm>
            <a:off x="1600200" y="1600200"/>
            <a:ext cx="731520" cy="731520"/>
          </a:xfrm>
          <a:prstGeom prst="ellipse">
            <a:avLst/>
          </a:prstGeom>
          <a:solidFill>
            <a:schemeClr val="accent2"/>
          </a:solidFill>
          <a:ln w="38100">
            <a:solidFill>
              <a:schemeClr val="bg1"/>
            </a:solidFill>
            <a:prstDash val="solid"/>
          </a:ln>
        </p:spPr>
      </p:sp>
      <p:sp>
        <p:nvSpPr>
          <p:cNvPr id="5" name="Phase number 1"/>
          <p:cNvSpPr txBox="1"/>
          <p:nvPr/>
        </p:nvSpPr>
        <p:spPr>
          <a:xfrm>
            <a:off x="1600200" y="1600200"/>
            <a:ext cx="731520" cy="731520"/>
          </a:xfrm>
          <a:prstGeom prst="rect">
            <a:avLst/>
          </a:prstGeom>
          <a:noFill/>
          <a:ln/>
        </p:spPr>
        <p:txBody>
          <a:bodyPr wrap="square" lIns="0" tIns="0" rIns="0" bIns="0" rtlCol="0" anchor="ctr"/>
          <a:lstStyle/>
          <a:p>
            <a:pPr algn="ctr" indent="0" marL="0">
              <a:buNone/>
            </a:pPr>
            <a:r>
              <a:rPr lang="en-US" sz="2400" b="1" dirty="0">
                <a:solidFill>
                  <a:schemeClr val="tx1"/>
                </a:solidFill>
                <a:latin typeface="+mj-lt" pitchFamily="34" charset="0"/>
                <a:ea typeface="+mj-lt" pitchFamily="34" charset="-122"/>
                <a:cs typeface="+mj-lt" pitchFamily="34" charset="-120"/>
              </a:rPr>
              <a:t>1</a:t>
            </a:r>
            <a:endParaRPr lang="en-US" sz="2400" dirty="0"/>
          </a:p>
        </p:txBody>
      </p:sp>
      <p:sp>
        <p:nvSpPr>
          <p:cNvPr id="6" name="Phase card 1"/>
          <p:cNvSpPr/>
          <p:nvPr/>
        </p:nvSpPr>
        <p:spPr>
          <a:xfrm>
            <a:off x="548640" y="2697480"/>
            <a:ext cx="2560320" cy="3108960"/>
          </a:xfrm>
          <a:prstGeom prst="roundRect">
            <a:avLst>
              <a:gd name="adj" fmla="val 4286"/>
            </a:avLst>
          </a:prstGeom>
          <a:solidFill>
            <a:schemeClr val="bg2"/>
          </a:solidFill>
          <a:ln w="12700">
            <a:solidFill>
              <a:schemeClr val="bg2"/>
            </a:solidFill>
            <a:prstDash val="solid"/>
          </a:ln>
        </p:spPr>
      </p:sp>
      <p:sp>
        <p:nvSpPr>
          <p:cNvPr id="7" name="Phase label 1"/>
          <p:cNvSpPr txBox="1"/>
          <p:nvPr/>
        </p:nvSpPr>
        <p:spPr>
          <a:xfrm>
            <a:off x="777240" y="2880360"/>
            <a:ext cx="2103120" cy="320040"/>
          </a:xfrm>
          <a:prstGeom prst="rect">
            <a:avLst/>
          </a:prstGeom>
          <a:noFill/>
          <a:ln/>
        </p:spPr>
        <p:txBody>
          <a:bodyPr wrap="square" lIns="0" tIns="0" rIns="0" bIns="0" rtlCol="0" anchor="t"/>
          <a:lstStyle/>
          <a:p>
            <a:pPr indent="0" marL="0">
              <a:buNone/>
            </a:pPr>
            <a:r>
              <a:rPr lang="en-US" sz="1400" b="1" dirty="0">
                <a:solidFill>
                  <a:schemeClr val="accent1"/>
                </a:solidFill>
              </a:rPr>
              <a:t>NOW</a:t>
            </a:r>
            <a:endParaRPr lang="en-US" sz="1400" dirty="0"/>
          </a:p>
        </p:txBody>
      </p:sp>
      <p:sp>
        <p:nvSpPr>
          <p:cNvPr id="8" name="Phase title 1"/>
          <p:cNvSpPr txBox="1"/>
          <p:nvPr/>
        </p:nvSpPr>
        <p:spPr>
          <a:xfrm>
            <a:off x="777240" y="32461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Hackathon MVP</a:t>
            </a:r>
            <a:endParaRPr lang="en-US" sz="2000" dirty="0"/>
          </a:p>
        </p:txBody>
      </p:sp>
      <p:sp>
        <p:nvSpPr>
          <p:cNvPr id="9" name="Phase text 1"/>
          <p:cNvSpPr txBox="1"/>
          <p:nvPr/>
        </p:nvSpPr>
        <p:spPr>
          <a:xfrm>
            <a:off x="777240" y="3794760"/>
            <a:ext cx="2148840" cy="1920240"/>
          </a:xfrm>
          <a:prstGeom prst="rect">
            <a:avLst/>
          </a:prstGeom>
          <a:noFill/>
          <a:ln/>
        </p:spPr>
        <p:txBody>
          <a:bodyPr wrap="square" lIns="0" tIns="0" rIns="0" bIns="0" rtlCol="0" anchor="t"/>
          <a:lstStyle/>
          <a:p>
            <a:pPr indent="0" marL="0">
              <a:buNone/>
            </a:pPr>
            <a:r>
              <a:rPr lang="en-US" sz="1400" dirty="0">
                <a:solidFill>
                  <a:schemeClr val="tx1"/>
                </a:solidFill>
              </a:rPr>
              <a:t>Hindi voice flow for one district, live data through TinyFish, and an assisted application.</a:t>
            </a:r>
            <a:endParaRPr lang="en-US" sz="1400" dirty="0"/>
          </a:p>
        </p:txBody>
      </p:sp>
      <p:sp>
        <p:nvSpPr>
          <p:cNvPr id="10" name="Phase circle 2"/>
          <p:cNvSpPr/>
          <p:nvPr/>
        </p:nvSpPr>
        <p:spPr>
          <a:xfrm>
            <a:off x="4434840" y="1600200"/>
            <a:ext cx="731520" cy="731520"/>
          </a:xfrm>
          <a:prstGeom prst="ellipse">
            <a:avLst/>
          </a:prstGeom>
          <a:solidFill>
            <a:schemeClr val="accent1"/>
          </a:solidFill>
          <a:ln w="38100">
            <a:solidFill>
              <a:schemeClr val="bg1"/>
            </a:solidFill>
            <a:prstDash val="solid"/>
          </a:ln>
        </p:spPr>
      </p:sp>
      <p:sp>
        <p:nvSpPr>
          <p:cNvPr id="11" name="Phase number 2"/>
          <p:cNvSpPr txBox="1"/>
          <p:nvPr/>
        </p:nvSpPr>
        <p:spPr>
          <a:xfrm>
            <a:off x="4434840" y="16002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2</a:t>
            </a:r>
            <a:endParaRPr lang="en-US" sz="2400" dirty="0"/>
          </a:p>
        </p:txBody>
      </p:sp>
      <p:sp>
        <p:nvSpPr>
          <p:cNvPr id="12" name="Phase card 2"/>
          <p:cNvSpPr/>
          <p:nvPr/>
        </p:nvSpPr>
        <p:spPr>
          <a:xfrm>
            <a:off x="3383280" y="2697480"/>
            <a:ext cx="2560320" cy="3108960"/>
          </a:xfrm>
          <a:prstGeom prst="roundRect">
            <a:avLst>
              <a:gd name="adj" fmla="val 4286"/>
            </a:avLst>
          </a:prstGeom>
          <a:solidFill>
            <a:schemeClr val="bg2"/>
          </a:solidFill>
          <a:ln w="12700">
            <a:solidFill>
              <a:schemeClr val="bg2"/>
            </a:solidFill>
            <a:prstDash val="solid"/>
          </a:ln>
        </p:spPr>
      </p:sp>
      <p:sp>
        <p:nvSpPr>
          <p:cNvPr id="13" name="Phase label 2"/>
          <p:cNvSpPr txBox="1"/>
          <p:nvPr/>
        </p:nvSpPr>
        <p:spPr>
          <a:xfrm>
            <a:off x="3611880" y="2880360"/>
            <a:ext cx="2103120" cy="320040"/>
          </a:xfrm>
          <a:prstGeom prst="rect">
            <a:avLst/>
          </a:prstGeom>
          <a:noFill/>
          <a:ln/>
        </p:spPr>
        <p:txBody>
          <a:bodyPr wrap="square" lIns="0" tIns="0" rIns="0" bIns="0" rtlCol="0" anchor="t"/>
          <a:lstStyle/>
          <a:p>
            <a:pPr indent="0" marL="0">
              <a:buNone/>
            </a:pPr>
            <a:r>
              <a:rPr lang="en-US" sz="1400" b="1" dirty="0">
                <a:solidFill>
                  <a:schemeClr val="accent1"/>
                </a:solidFill>
              </a:rPr>
              <a:t>NEXT</a:t>
            </a:r>
            <a:endParaRPr lang="en-US" sz="1400" dirty="0"/>
          </a:p>
        </p:txBody>
      </p:sp>
      <p:sp>
        <p:nvSpPr>
          <p:cNvPr id="14" name="Phase title 2"/>
          <p:cNvSpPr txBox="1"/>
          <p:nvPr/>
        </p:nvSpPr>
        <p:spPr>
          <a:xfrm>
            <a:off x="3611880" y="32461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Wider reach</a:t>
            </a:r>
            <a:endParaRPr lang="en-US" sz="2000" dirty="0"/>
          </a:p>
        </p:txBody>
      </p:sp>
      <p:sp>
        <p:nvSpPr>
          <p:cNvPr id="15" name="Phase text 2"/>
          <p:cNvSpPr txBox="1"/>
          <p:nvPr/>
        </p:nvSpPr>
        <p:spPr>
          <a:xfrm>
            <a:off x="3611880" y="3794760"/>
            <a:ext cx="2148840" cy="1920240"/>
          </a:xfrm>
          <a:prstGeom prst="rect">
            <a:avLst/>
          </a:prstGeom>
          <a:noFill/>
          <a:ln/>
        </p:spPr>
        <p:txBody>
          <a:bodyPr wrap="square" lIns="0" tIns="0" rIns="0" bIns="0" rtlCol="0" anchor="t"/>
          <a:lstStyle/>
          <a:p>
            <a:pPr indent="0" marL="0">
              <a:buNone/>
            </a:pPr>
            <a:r>
              <a:rPr lang="en-US" sz="1400" dirty="0">
                <a:solidFill>
                  <a:schemeClr val="tx1"/>
                </a:solidFill>
              </a:rPr>
              <a:t>More Indian languages, WhatsApp voice and IVR for feature phones, with offline-friendly access.</a:t>
            </a:r>
            <a:endParaRPr lang="en-US" sz="1400" dirty="0"/>
          </a:p>
        </p:txBody>
      </p:sp>
      <p:sp>
        <p:nvSpPr>
          <p:cNvPr id="16" name="Phase circle 3"/>
          <p:cNvSpPr/>
          <p:nvPr/>
        </p:nvSpPr>
        <p:spPr>
          <a:xfrm>
            <a:off x="7269480" y="1600200"/>
            <a:ext cx="731520" cy="731520"/>
          </a:xfrm>
          <a:prstGeom prst="ellipse">
            <a:avLst/>
          </a:prstGeom>
          <a:solidFill>
            <a:schemeClr val="accent1"/>
          </a:solidFill>
          <a:ln w="38100">
            <a:solidFill>
              <a:schemeClr val="bg1"/>
            </a:solidFill>
            <a:prstDash val="solid"/>
          </a:ln>
        </p:spPr>
      </p:sp>
      <p:sp>
        <p:nvSpPr>
          <p:cNvPr id="17" name="Phase number 3"/>
          <p:cNvSpPr txBox="1"/>
          <p:nvPr/>
        </p:nvSpPr>
        <p:spPr>
          <a:xfrm>
            <a:off x="7269480" y="16002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3</a:t>
            </a:r>
            <a:endParaRPr lang="en-US" sz="2400" dirty="0"/>
          </a:p>
        </p:txBody>
      </p:sp>
      <p:sp>
        <p:nvSpPr>
          <p:cNvPr id="18" name="Phase card 3"/>
          <p:cNvSpPr/>
          <p:nvPr/>
        </p:nvSpPr>
        <p:spPr>
          <a:xfrm>
            <a:off x="6217920" y="2697480"/>
            <a:ext cx="2560320" cy="3108960"/>
          </a:xfrm>
          <a:prstGeom prst="roundRect">
            <a:avLst>
              <a:gd name="adj" fmla="val 4286"/>
            </a:avLst>
          </a:prstGeom>
          <a:solidFill>
            <a:schemeClr val="bg2"/>
          </a:solidFill>
          <a:ln w="12700">
            <a:solidFill>
              <a:schemeClr val="bg2"/>
            </a:solidFill>
            <a:prstDash val="solid"/>
          </a:ln>
        </p:spPr>
      </p:sp>
      <p:sp>
        <p:nvSpPr>
          <p:cNvPr id="19" name="Phase label 3"/>
          <p:cNvSpPr txBox="1"/>
          <p:nvPr/>
        </p:nvSpPr>
        <p:spPr>
          <a:xfrm>
            <a:off x="6446520" y="2880360"/>
            <a:ext cx="2103120" cy="320040"/>
          </a:xfrm>
          <a:prstGeom prst="rect">
            <a:avLst/>
          </a:prstGeom>
          <a:noFill/>
          <a:ln/>
        </p:spPr>
        <p:txBody>
          <a:bodyPr wrap="square" lIns="0" tIns="0" rIns="0" bIns="0" rtlCol="0" anchor="t"/>
          <a:lstStyle/>
          <a:p>
            <a:pPr indent="0" marL="0">
              <a:buNone/>
            </a:pPr>
            <a:r>
              <a:rPr lang="en-US" sz="1400" b="1" dirty="0">
                <a:solidFill>
                  <a:schemeClr val="accent1"/>
                </a:solidFill>
              </a:rPr>
              <a:t>THEN</a:t>
            </a:r>
            <a:endParaRPr lang="en-US" sz="1400" dirty="0"/>
          </a:p>
        </p:txBody>
      </p:sp>
      <p:sp>
        <p:nvSpPr>
          <p:cNvPr id="20" name="Phase title 3"/>
          <p:cNvSpPr txBox="1"/>
          <p:nvPr/>
        </p:nvSpPr>
        <p:spPr>
          <a:xfrm>
            <a:off x="6446520" y="32461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Ecosystem</a:t>
            </a:r>
            <a:endParaRPr lang="en-US" sz="2000" dirty="0"/>
          </a:p>
        </p:txBody>
      </p:sp>
      <p:sp>
        <p:nvSpPr>
          <p:cNvPr id="21" name="Phase text 3"/>
          <p:cNvSpPr txBox="1"/>
          <p:nvPr/>
        </p:nvSpPr>
        <p:spPr>
          <a:xfrm>
            <a:off x="6446520" y="3794760"/>
            <a:ext cx="2148840" cy="1920240"/>
          </a:xfrm>
          <a:prstGeom prst="rect">
            <a:avLst/>
          </a:prstGeom>
          <a:noFill/>
          <a:ln/>
        </p:spPr>
        <p:txBody>
          <a:bodyPr wrap="square" lIns="0" tIns="0" rIns="0" bIns="0" rtlCol="0" anchor="t"/>
          <a:lstStyle/>
          <a:p>
            <a:pPr indent="0" marL="0">
              <a:buNone/>
            </a:pPr>
            <a:r>
              <a:rPr lang="en-US" sz="1400" dirty="0">
                <a:solidFill>
                  <a:schemeClr val="tx1"/>
                </a:solidFill>
              </a:rPr>
              <a:t>Verified listings from training partners and employers, plus CSC and district skill office integration.</a:t>
            </a:r>
            <a:endParaRPr lang="en-US" sz="1400" dirty="0"/>
          </a:p>
        </p:txBody>
      </p:sp>
      <p:sp>
        <p:nvSpPr>
          <p:cNvPr id="22" name="Phase circle 4"/>
          <p:cNvSpPr/>
          <p:nvPr/>
        </p:nvSpPr>
        <p:spPr>
          <a:xfrm>
            <a:off x="10104120" y="1600200"/>
            <a:ext cx="731520" cy="731520"/>
          </a:xfrm>
          <a:prstGeom prst="ellipse">
            <a:avLst/>
          </a:prstGeom>
          <a:solidFill>
            <a:schemeClr val="accent1"/>
          </a:solidFill>
          <a:ln w="38100">
            <a:solidFill>
              <a:schemeClr val="bg1"/>
            </a:solidFill>
            <a:prstDash val="solid"/>
          </a:ln>
        </p:spPr>
      </p:sp>
      <p:sp>
        <p:nvSpPr>
          <p:cNvPr id="23" name="Phase number 4"/>
          <p:cNvSpPr txBox="1"/>
          <p:nvPr/>
        </p:nvSpPr>
        <p:spPr>
          <a:xfrm>
            <a:off x="10104120" y="1600200"/>
            <a:ext cx="731520" cy="731520"/>
          </a:xfrm>
          <a:prstGeom prst="rect">
            <a:avLst/>
          </a:prstGeom>
          <a:noFill/>
          <a:ln/>
        </p:spPr>
        <p:txBody>
          <a:bodyPr wrap="square" lIns="0" tIns="0" rIns="0" bIns="0" rtlCol="0" anchor="ctr"/>
          <a:lstStyle/>
          <a:p>
            <a:pPr algn="ctr" indent="0" marL="0">
              <a:buNone/>
            </a:pPr>
            <a:r>
              <a:rPr lang="en-US" sz="2400" b="1" dirty="0">
                <a:solidFill>
                  <a:schemeClr val="bg1"/>
                </a:solidFill>
                <a:latin typeface="+mj-lt" pitchFamily="34" charset="0"/>
                <a:ea typeface="+mj-lt" pitchFamily="34" charset="-122"/>
                <a:cs typeface="+mj-lt" pitchFamily="34" charset="-120"/>
              </a:rPr>
              <a:t>4</a:t>
            </a:r>
            <a:endParaRPr lang="en-US" sz="2400" dirty="0"/>
          </a:p>
        </p:txBody>
      </p:sp>
      <p:sp>
        <p:nvSpPr>
          <p:cNvPr id="24" name="Phase card 4"/>
          <p:cNvSpPr/>
          <p:nvPr/>
        </p:nvSpPr>
        <p:spPr>
          <a:xfrm>
            <a:off x="9052560" y="2697480"/>
            <a:ext cx="2560320" cy="3108960"/>
          </a:xfrm>
          <a:prstGeom prst="roundRect">
            <a:avLst>
              <a:gd name="adj" fmla="val 4286"/>
            </a:avLst>
          </a:prstGeom>
          <a:solidFill>
            <a:schemeClr val="bg2"/>
          </a:solidFill>
          <a:ln w="12700">
            <a:solidFill>
              <a:schemeClr val="bg2"/>
            </a:solidFill>
            <a:prstDash val="solid"/>
          </a:ln>
        </p:spPr>
      </p:sp>
      <p:sp>
        <p:nvSpPr>
          <p:cNvPr id="25" name="Phase label 4"/>
          <p:cNvSpPr txBox="1"/>
          <p:nvPr/>
        </p:nvSpPr>
        <p:spPr>
          <a:xfrm>
            <a:off x="9281160" y="2880360"/>
            <a:ext cx="2103120" cy="320040"/>
          </a:xfrm>
          <a:prstGeom prst="rect">
            <a:avLst/>
          </a:prstGeom>
          <a:noFill/>
          <a:ln/>
        </p:spPr>
        <p:txBody>
          <a:bodyPr wrap="square" lIns="0" tIns="0" rIns="0" bIns="0" rtlCol="0" anchor="t"/>
          <a:lstStyle/>
          <a:p>
            <a:pPr indent="0" marL="0">
              <a:buNone/>
            </a:pPr>
            <a:r>
              <a:rPr lang="en-US" sz="1400" b="1" dirty="0">
                <a:solidFill>
                  <a:schemeClr val="accent1"/>
                </a:solidFill>
              </a:rPr>
              <a:t>LATER</a:t>
            </a:r>
            <a:endParaRPr lang="en-US" sz="1400" dirty="0"/>
          </a:p>
        </p:txBody>
      </p:sp>
      <p:sp>
        <p:nvSpPr>
          <p:cNvPr id="26" name="Phase title 4"/>
          <p:cNvSpPr txBox="1"/>
          <p:nvPr/>
        </p:nvSpPr>
        <p:spPr>
          <a:xfrm>
            <a:off x="9281160" y="3246120"/>
            <a:ext cx="2103120" cy="411480"/>
          </a:xfrm>
          <a:prstGeom prst="rect">
            <a:avLst/>
          </a:prstGeom>
          <a:noFill/>
          <a:ln/>
        </p:spPr>
        <p:txBody>
          <a:bodyPr wrap="square" lIns="0" tIns="0" rIns="0" bIns="0" rtlCol="0" anchor="t"/>
          <a:lstStyle/>
          <a:p>
            <a:pPr indent="0" marL="0">
              <a:buNone/>
            </a:pPr>
            <a:r>
              <a:rPr lang="en-US" sz="2000" b="1" dirty="0">
                <a:solidFill>
                  <a:schemeClr val="tx2"/>
                </a:solidFill>
              </a:rPr>
              <a:t>Planning</a:t>
            </a:r>
            <a:endParaRPr lang="en-US" sz="2000" dirty="0"/>
          </a:p>
        </p:txBody>
      </p:sp>
      <p:sp>
        <p:nvSpPr>
          <p:cNvPr id="27" name="Phase text 4"/>
          <p:cNvSpPr txBox="1"/>
          <p:nvPr/>
        </p:nvSpPr>
        <p:spPr>
          <a:xfrm>
            <a:off x="9281160" y="3794760"/>
            <a:ext cx="2148840" cy="1920240"/>
          </a:xfrm>
          <a:prstGeom prst="rect">
            <a:avLst/>
          </a:prstGeom>
          <a:noFill/>
          <a:ln/>
        </p:spPr>
        <p:txBody>
          <a:bodyPr wrap="square" lIns="0" tIns="0" rIns="0" bIns="0" rtlCol="0" anchor="t"/>
          <a:lstStyle/>
          <a:p>
            <a:pPr indent="0" marL="0">
              <a:buNone/>
            </a:pPr>
            <a:r>
              <a:rPr lang="en-US" sz="1400" dirty="0">
                <a:solidFill>
                  <a:schemeClr val="tx1"/>
                </a:solidFill>
              </a:rPr>
              <a:t>Anonymised district dashboards that show skill demand and supply gaps for policy planning.</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822960"/>
          </a:xfrm>
          <a:prstGeom prst="rect">
            <a:avLst/>
          </a:prstGeom>
          <a:noFill/>
          <a:ln/>
        </p:spPr>
        <p:txBody>
          <a:bodyPr wrap="square" lIns="0" tIns="0" rIns="0" bIns="0" rtlCol="0" anchor="ctr"/>
          <a:lstStyle/>
          <a:p>
            <a:pPr algn="l" indent="0" marL="0">
              <a:buNone/>
            </a:pPr>
            <a:r>
              <a:rPr lang="en-US" sz="3200" b="1" dirty="0">
                <a:solidFill>
                  <a:schemeClr val="tx2"/>
                </a:solidFill>
              </a:rPr>
              <a:t>References</a:t>
            </a:r>
            <a:endParaRPr lang="en-US" sz="3200" dirty="0"/>
          </a:p>
        </p:txBody>
      </p:sp>
      <p:sp>
        <p:nvSpPr>
          <p:cNvPr id="3" name="Reference card 1"/>
          <p:cNvSpPr/>
          <p:nvPr/>
        </p:nvSpPr>
        <p:spPr>
          <a:xfrm>
            <a:off x="548640" y="1371600"/>
            <a:ext cx="11064240" cy="694944"/>
          </a:xfrm>
          <a:prstGeom prst="roundRect">
            <a:avLst>
              <a:gd name="adj" fmla="val 15789"/>
            </a:avLst>
          </a:prstGeom>
          <a:solidFill>
            <a:schemeClr val="bg2"/>
          </a:solidFill>
          <a:ln w="12700">
            <a:solidFill>
              <a:schemeClr val="bg2"/>
            </a:solidFill>
            <a:prstDash val="solid"/>
          </a:ln>
        </p:spPr>
      </p:sp>
      <p:sp>
        <p:nvSpPr>
          <p:cNvPr id="4" name="Reference title 1"/>
          <p:cNvSpPr txBox="1"/>
          <p:nvPr/>
        </p:nvSpPr>
        <p:spPr>
          <a:xfrm>
            <a:off x="777240" y="1444752"/>
            <a:ext cx="6675120" cy="292608"/>
          </a:xfrm>
          <a:prstGeom prst="rect">
            <a:avLst/>
          </a:prstGeom>
          <a:noFill/>
          <a:ln/>
        </p:spPr>
        <p:txBody>
          <a:bodyPr wrap="square" lIns="0" tIns="0" rIns="0" bIns="0" rtlCol="0" anchor="t"/>
          <a:lstStyle/>
          <a:p>
            <a:pPr indent="0" marL="0">
              <a:buNone/>
            </a:pPr>
            <a:r>
              <a:rPr lang="en-US" sz="1400" b="1" dirty="0">
                <a:solidFill>
                  <a:schemeClr val="tx2"/>
                </a:solidFill>
              </a:rPr>
              <a:t>NSDC, PMKVY 2.0: Analysis of Sectoral Performance</a:t>
            </a:r>
            <a:endParaRPr lang="en-US" sz="1400" dirty="0"/>
          </a:p>
        </p:txBody>
      </p:sp>
      <p:sp>
        <p:nvSpPr>
          <p:cNvPr id="5" name="Reference use 1"/>
          <p:cNvSpPr txBox="1"/>
          <p:nvPr/>
        </p:nvSpPr>
        <p:spPr>
          <a:xfrm>
            <a:off x="777240" y="1737360"/>
            <a:ext cx="6675120" cy="274320"/>
          </a:xfrm>
          <a:prstGeom prst="rect">
            <a:avLst/>
          </a:prstGeom>
          <a:noFill/>
          <a:ln/>
        </p:spPr>
        <p:txBody>
          <a:bodyPr wrap="square" lIns="0" tIns="0" rIns="0" bIns="0" rtlCol="0" anchor="t"/>
          <a:lstStyle/>
          <a:p>
            <a:pPr indent="0" marL="0">
              <a:buNone/>
            </a:pPr>
            <a:r>
              <a:rPr lang="en-US" sz="1200" dirty="0">
                <a:solidFill>
                  <a:schemeClr val="tx1"/>
                </a:solidFill>
              </a:rPr>
              <a:t>33.6 lakh trained, 15.3 lakh reported placed (45.6%)</a:t>
            </a:r>
            <a:endParaRPr lang="en-US" sz="1200" dirty="0"/>
          </a:p>
        </p:txBody>
      </p:sp>
      <p:sp>
        <p:nvSpPr>
          <p:cNvPr id="6" name="Reference url 1"/>
          <p:cNvSpPr txBox="1"/>
          <p:nvPr/>
        </p:nvSpPr>
        <p:spPr>
          <a:xfrm>
            <a:off x="7680960" y="1371600"/>
            <a:ext cx="3749040" cy="694944"/>
          </a:xfrm>
          <a:prstGeom prst="rect">
            <a:avLst/>
          </a:prstGeom>
          <a:noFill/>
          <a:ln/>
        </p:spPr>
        <p:txBody>
          <a:bodyPr wrap="square" lIns="0" tIns="0" rIns="0" bIns="0" rtlCol="0" anchor="ctr"/>
          <a:lstStyle/>
          <a:p>
            <a:pPr algn="r" indent="0" marL="0">
              <a:buNone/>
            </a:pPr>
            <a:r>
              <a:rPr lang="en-US" sz="1200" dirty="0">
                <a:solidFill>
                  <a:schemeClr val="accent1"/>
                </a:solidFill>
              </a:rPr>
              <a:t>skillsip.nsdcindia.org</a:t>
            </a:r>
            <a:endParaRPr lang="en-US" sz="1200" dirty="0"/>
          </a:p>
        </p:txBody>
      </p:sp>
      <p:sp>
        <p:nvSpPr>
          <p:cNvPr id="7" name="Reference card 2"/>
          <p:cNvSpPr/>
          <p:nvPr/>
        </p:nvSpPr>
        <p:spPr>
          <a:xfrm>
            <a:off x="548640" y="2157984"/>
            <a:ext cx="11064240" cy="694944"/>
          </a:xfrm>
          <a:prstGeom prst="roundRect">
            <a:avLst>
              <a:gd name="adj" fmla="val 15789"/>
            </a:avLst>
          </a:prstGeom>
          <a:solidFill>
            <a:schemeClr val="bg2"/>
          </a:solidFill>
          <a:ln w="12700">
            <a:solidFill>
              <a:schemeClr val="bg2"/>
            </a:solidFill>
            <a:prstDash val="solid"/>
          </a:ln>
        </p:spPr>
      </p:sp>
      <p:sp>
        <p:nvSpPr>
          <p:cNvPr id="8" name="Reference title 2"/>
          <p:cNvSpPr txBox="1"/>
          <p:nvPr/>
        </p:nvSpPr>
        <p:spPr>
          <a:xfrm>
            <a:off x="777240" y="2231136"/>
            <a:ext cx="6675120" cy="292608"/>
          </a:xfrm>
          <a:prstGeom prst="rect">
            <a:avLst/>
          </a:prstGeom>
          <a:noFill/>
          <a:ln/>
        </p:spPr>
        <p:txBody>
          <a:bodyPr wrap="square" lIns="0" tIns="0" rIns="0" bIns="0" rtlCol="0" anchor="t"/>
          <a:lstStyle/>
          <a:p>
            <a:pPr indent="0" marL="0">
              <a:buNone/>
            </a:pPr>
            <a:r>
              <a:rPr lang="en-US" sz="1400" b="1" dirty="0">
                <a:solidFill>
                  <a:schemeClr val="tx2"/>
                </a:solidFill>
              </a:rPr>
              <a:t>NSDC, PMKVY STT Program Analytics, November 2020</a:t>
            </a:r>
            <a:endParaRPr lang="en-US" sz="1400" dirty="0"/>
          </a:p>
        </p:txBody>
      </p:sp>
      <p:sp>
        <p:nvSpPr>
          <p:cNvPr id="9" name="Reference use 2"/>
          <p:cNvSpPr txBox="1"/>
          <p:nvPr/>
        </p:nvSpPr>
        <p:spPr>
          <a:xfrm>
            <a:off x="777240" y="2523744"/>
            <a:ext cx="6675120" cy="274320"/>
          </a:xfrm>
          <a:prstGeom prst="rect">
            <a:avLst/>
          </a:prstGeom>
          <a:noFill/>
          <a:ln/>
        </p:spPr>
        <p:txBody>
          <a:bodyPr wrap="square" lIns="0" tIns="0" rIns="0" bIns="0" rtlCol="0" anchor="t"/>
          <a:lstStyle/>
          <a:p>
            <a:pPr indent="0" marL="0">
              <a:buNone/>
            </a:pPr>
            <a:r>
              <a:rPr lang="en-US" sz="1200" dirty="0">
                <a:solidFill>
                  <a:schemeClr val="tx1"/>
                </a:solidFill>
              </a:rPr>
              <a:t>Placement rate by age group</a:t>
            </a:r>
            <a:endParaRPr lang="en-US" sz="1200" dirty="0"/>
          </a:p>
        </p:txBody>
      </p:sp>
      <p:sp>
        <p:nvSpPr>
          <p:cNvPr id="10" name="Reference url 2"/>
          <p:cNvSpPr txBox="1"/>
          <p:nvPr/>
        </p:nvSpPr>
        <p:spPr>
          <a:xfrm>
            <a:off x="7680960" y="2157984"/>
            <a:ext cx="3749040" cy="694944"/>
          </a:xfrm>
          <a:prstGeom prst="rect">
            <a:avLst/>
          </a:prstGeom>
          <a:noFill/>
          <a:ln/>
        </p:spPr>
        <p:txBody>
          <a:bodyPr wrap="square" lIns="0" tIns="0" rIns="0" bIns="0" rtlCol="0" anchor="ctr"/>
          <a:lstStyle/>
          <a:p>
            <a:pPr algn="r" indent="0" marL="0">
              <a:buNone/>
            </a:pPr>
            <a:r>
              <a:rPr lang="en-US" sz="1200" dirty="0">
                <a:solidFill>
                  <a:schemeClr val="accent1"/>
                </a:solidFill>
              </a:rPr>
              <a:t>skillsip.nsdcindia.org</a:t>
            </a:r>
            <a:endParaRPr lang="en-US" sz="1200" dirty="0"/>
          </a:p>
        </p:txBody>
      </p:sp>
      <p:sp>
        <p:nvSpPr>
          <p:cNvPr id="11" name="Reference card 3"/>
          <p:cNvSpPr/>
          <p:nvPr/>
        </p:nvSpPr>
        <p:spPr>
          <a:xfrm>
            <a:off x="548640" y="2944368"/>
            <a:ext cx="11064240" cy="694944"/>
          </a:xfrm>
          <a:prstGeom prst="roundRect">
            <a:avLst>
              <a:gd name="adj" fmla="val 15789"/>
            </a:avLst>
          </a:prstGeom>
          <a:solidFill>
            <a:schemeClr val="bg2"/>
          </a:solidFill>
          <a:ln w="12700">
            <a:solidFill>
              <a:schemeClr val="bg2"/>
            </a:solidFill>
            <a:prstDash val="solid"/>
          </a:ln>
        </p:spPr>
      </p:sp>
      <p:sp>
        <p:nvSpPr>
          <p:cNvPr id="12" name="Reference title 3"/>
          <p:cNvSpPr txBox="1"/>
          <p:nvPr/>
        </p:nvSpPr>
        <p:spPr>
          <a:xfrm>
            <a:off x="777240" y="3017520"/>
            <a:ext cx="6675120" cy="292608"/>
          </a:xfrm>
          <a:prstGeom prst="rect">
            <a:avLst/>
          </a:prstGeom>
          <a:noFill/>
          <a:ln/>
        </p:spPr>
        <p:txBody>
          <a:bodyPr wrap="square" lIns="0" tIns="0" rIns="0" bIns="0" rtlCol="0" anchor="t"/>
          <a:lstStyle/>
          <a:p>
            <a:pPr indent="0" marL="0">
              <a:buNone/>
            </a:pPr>
            <a:r>
              <a:rPr lang="en-US" sz="1400" b="1" dirty="0">
                <a:solidFill>
                  <a:schemeClr val="tx2"/>
                </a:solidFill>
              </a:rPr>
              <a:t>Rajya Sabha unstarred question, 2 Feb 2022 (MSDE reply)</a:t>
            </a:r>
            <a:endParaRPr lang="en-US" sz="1400" dirty="0"/>
          </a:p>
        </p:txBody>
      </p:sp>
      <p:sp>
        <p:nvSpPr>
          <p:cNvPr id="13" name="Reference use 3"/>
          <p:cNvSpPr txBox="1"/>
          <p:nvPr/>
        </p:nvSpPr>
        <p:spPr>
          <a:xfrm>
            <a:off x="777240" y="3310128"/>
            <a:ext cx="6675120" cy="274320"/>
          </a:xfrm>
          <a:prstGeom prst="rect">
            <a:avLst/>
          </a:prstGeom>
          <a:noFill/>
          <a:ln/>
        </p:spPr>
        <p:txBody>
          <a:bodyPr wrap="square" lIns="0" tIns="0" rIns="0" bIns="0" rtlCol="0" anchor="t"/>
          <a:lstStyle/>
          <a:p>
            <a:pPr indent="0" marL="0">
              <a:buNone/>
            </a:pPr>
            <a:r>
              <a:rPr lang="en-US" sz="1200" dirty="0">
                <a:solidFill>
                  <a:schemeClr val="tx1"/>
                </a:solidFill>
              </a:rPr>
              <a:t>Third-party evaluation: 15% higher monthly income for trained candidates</a:t>
            </a:r>
            <a:endParaRPr lang="en-US" sz="1200" dirty="0"/>
          </a:p>
        </p:txBody>
      </p:sp>
      <p:sp>
        <p:nvSpPr>
          <p:cNvPr id="14" name="Reference url 3"/>
          <p:cNvSpPr txBox="1"/>
          <p:nvPr/>
        </p:nvSpPr>
        <p:spPr>
          <a:xfrm>
            <a:off x="7680960" y="2944368"/>
            <a:ext cx="3749040" cy="694944"/>
          </a:xfrm>
          <a:prstGeom prst="rect">
            <a:avLst/>
          </a:prstGeom>
          <a:noFill/>
          <a:ln/>
        </p:spPr>
        <p:txBody>
          <a:bodyPr wrap="square" lIns="0" tIns="0" rIns="0" bIns="0" rtlCol="0" anchor="ctr"/>
          <a:lstStyle/>
          <a:p>
            <a:pPr algn="r" indent="0" marL="0">
              <a:buNone/>
            </a:pPr>
            <a:r>
              <a:rPr lang="en-US" sz="1200" dirty="0">
                <a:solidFill>
                  <a:schemeClr val="accent1"/>
                </a:solidFill>
              </a:rPr>
              <a:t>rsdebate.nic.in</a:t>
            </a:r>
            <a:endParaRPr lang="en-US" sz="1200" dirty="0"/>
          </a:p>
        </p:txBody>
      </p:sp>
      <p:sp>
        <p:nvSpPr>
          <p:cNvPr id="15" name="Reference card 4"/>
          <p:cNvSpPr/>
          <p:nvPr/>
        </p:nvSpPr>
        <p:spPr>
          <a:xfrm>
            <a:off x="548640" y="3730752"/>
            <a:ext cx="11064240" cy="694944"/>
          </a:xfrm>
          <a:prstGeom prst="roundRect">
            <a:avLst>
              <a:gd name="adj" fmla="val 15789"/>
            </a:avLst>
          </a:prstGeom>
          <a:solidFill>
            <a:schemeClr val="bg2"/>
          </a:solidFill>
          <a:ln w="12700">
            <a:solidFill>
              <a:schemeClr val="bg2"/>
            </a:solidFill>
            <a:prstDash val="solid"/>
          </a:ln>
        </p:spPr>
      </p:sp>
      <p:sp>
        <p:nvSpPr>
          <p:cNvPr id="16" name="Reference title 4"/>
          <p:cNvSpPr txBox="1"/>
          <p:nvPr/>
        </p:nvSpPr>
        <p:spPr>
          <a:xfrm>
            <a:off x="777240" y="3803904"/>
            <a:ext cx="6675120" cy="292608"/>
          </a:xfrm>
          <a:prstGeom prst="rect">
            <a:avLst/>
          </a:prstGeom>
          <a:noFill/>
          <a:ln/>
        </p:spPr>
        <p:txBody>
          <a:bodyPr wrap="square" lIns="0" tIns="0" rIns="0" bIns="0" rtlCol="0" anchor="t"/>
          <a:lstStyle/>
          <a:p>
            <a:pPr indent="0" marL="0">
              <a:buNone/>
            </a:pPr>
            <a:r>
              <a:rPr lang="en-US" sz="1400" b="1" dirty="0">
                <a:solidFill>
                  <a:schemeClr val="tx2"/>
                </a:solidFill>
              </a:rPr>
              <a:t>Business Standard report on the PMKVY dashboard, via Free Press Journal</a:t>
            </a:r>
            <a:endParaRPr lang="en-US" sz="1400" dirty="0"/>
          </a:p>
        </p:txBody>
      </p:sp>
      <p:sp>
        <p:nvSpPr>
          <p:cNvPr id="17" name="Reference use 4"/>
          <p:cNvSpPr txBox="1"/>
          <p:nvPr/>
        </p:nvSpPr>
        <p:spPr>
          <a:xfrm>
            <a:off x="777240" y="4096512"/>
            <a:ext cx="6675120" cy="274320"/>
          </a:xfrm>
          <a:prstGeom prst="rect">
            <a:avLst/>
          </a:prstGeom>
          <a:noFill/>
          <a:ln/>
        </p:spPr>
        <p:txBody>
          <a:bodyPr wrap="square" lIns="0" tIns="0" rIns="0" bIns="0" rtlCol="0" anchor="t"/>
          <a:lstStyle/>
          <a:p>
            <a:pPr indent="0" marL="0">
              <a:buNone/>
            </a:pPr>
            <a:r>
              <a:rPr lang="en-US" sz="1200" dirty="0">
                <a:solidFill>
                  <a:schemeClr val="tx1"/>
                </a:solidFill>
              </a:rPr>
              <a:t>Enrolment and dropout figures across PMKVY phases</a:t>
            </a:r>
            <a:endParaRPr lang="en-US" sz="1200" dirty="0"/>
          </a:p>
        </p:txBody>
      </p:sp>
      <p:sp>
        <p:nvSpPr>
          <p:cNvPr id="18" name="Reference url 4"/>
          <p:cNvSpPr txBox="1"/>
          <p:nvPr/>
        </p:nvSpPr>
        <p:spPr>
          <a:xfrm>
            <a:off x="7680960" y="3730752"/>
            <a:ext cx="3749040" cy="694944"/>
          </a:xfrm>
          <a:prstGeom prst="rect">
            <a:avLst/>
          </a:prstGeom>
          <a:noFill/>
          <a:ln/>
        </p:spPr>
        <p:txBody>
          <a:bodyPr wrap="square" lIns="0" tIns="0" rIns="0" bIns="0" rtlCol="0" anchor="ctr"/>
          <a:lstStyle/>
          <a:p>
            <a:pPr algn="r" indent="0" marL="0">
              <a:buNone/>
            </a:pPr>
            <a:r>
              <a:rPr lang="en-US" sz="1200" dirty="0">
                <a:solidFill>
                  <a:schemeClr val="accent1"/>
                </a:solidFill>
              </a:rPr>
              <a:t>freepressjournal.in</a:t>
            </a:r>
            <a:endParaRPr lang="en-US" sz="1200" dirty="0"/>
          </a:p>
        </p:txBody>
      </p:sp>
      <p:sp>
        <p:nvSpPr>
          <p:cNvPr id="19" name="Reference card 5"/>
          <p:cNvSpPr/>
          <p:nvPr/>
        </p:nvSpPr>
        <p:spPr>
          <a:xfrm>
            <a:off x="548640" y="4517136"/>
            <a:ext cx="11064240" cy="694944"/>
          </a:xfrm>
          <a:prstGeom prst="roundRect">
            <a:avLst>
              <a:gd name="adj" fmla="val 15789"/>
            </a:avLst>
          </a:prstGeom>
          <a:solidFill>
            <a:schemeClr val="bg2"/>
          </a:solidFill>
          <a:ln w="12700">
            <a:solidFill>
              <a:schemeClr val="bg2"/>
            </a:solidFill>
            <a:prstDash val="solid"/>
          </a:ln>
        </p:spPr>
      </p:sp>
      <p:sp>
        <p:nvSpPr>
          <p:cNvPr id="20" name="Reference title 5"/>
          <p:cNvSpPr txBox="1"/>
          <p:nvPr/>
        </p:nvSpPr>
        <p:spPr>
          <a:xfrm>
            <a:off x="777240" y="4590288"/>
            <a:ext cx="6675120" cy="292608"/>
          </a:xfrm>
          <a:prstGeom prst="rect">
            <a:avLst/>
          </a:prstGeom>
          <a:noFill/>
          <a:ln/>
        </p:spPr>
        <p:txBody>
          <a:bodyPr wrap="square" lIns="0" tIns="0" rIns="0" bIns="0" rtlCol="0" anchor="t"/>
          <a:lstStyle/>
          <a:p>
            <a:pPr indent="0" marL="0">
              <a:buNone/>
            </a:pPr>
            <a:r>
              <a:rPr lang="en-US" sz="1400" b="1" dirty="0">
                <a:solidFill>
                  <a:schemeClr val="tx2"/>
                </a:solidFill>
              </a:rPr>
              <a:t>TinyFish developer documentation</a:t>
            </a:r>
            <a:endParaRPr lang="en-US" sz="1400" dirty="0"/>
          </a:p>
        </p:txBody>
      </p:sp>
      <p:sp>
        <p:nvSpPr>
          <p:cNvPr id="21" name="Reference use 5"/>
          <p:cNvSpPr txBox="1"/>
          <p:nvPr/>
        </p:nvSpPr>
        <p:spPr>
          <a:xfrm>
            <a:off x="777240" y="4882896"/>
            <a:ext cx="6675120" cy="274320"/>
          </a:xfrm>
          <a:prstGeom prst="rect">
            <a:avLst/>
          </a:prstGeom>
          <a:noFill/>
          <a:ln/>
        </p:spPr>
        <p:txBody>
          <a:bodyPr wrap="square" lIns="0" tIns="0" rIns="0" bIns="0" rtlCol="0" anchor="t"/>
          <a:lstStyle/>
          <a:p>
            <a:pPr indent="0" marL="0">
              <a:buNone/>
            </a:pPr>
            <a:r>
              <a:rPr lang="en-US" sz="1200" dirty="0">
                <a:solidFill>
                  <a:schemeClr val="tx1"/>
                </a:solidFill>
              </a:rPr>
              <a:t>Search, Fetch, Agent and Browser APIs</a:t>
            </a:r>
            <a:endParaRPr lang="en-US" sz="1200" dirty="0"/>
          </a:p>
        </p:txBody>
      </p:sp>
      <p:sp>
        <p:nvSpPr>
          <p:cNvPr id="22" name="Reference url 5"/>
          <p:cNvSpPr txBox="1"/>
          <p:nvPr/>
        </p:nvSpPr>
        <p:spPr>
          <a:xfrm>
            <a:off x="7680960" y="4517136"/>
            <a:ext cx="3749040" cy="694944"/>
          </a:xfrm>
          <a:prstGeom prst="rect">
            <a:avLst/>
          </a:prstGeom>
          <a:noFill/>
          <a:ln/>
        </p:spPr>
        <p:txBody>
          <a:bodyPr wrap="square" lIns="0" tIns="0" rIns="0" bIns="0" rtlCol="0" anchor="ctr"/>
          <a:lstStyle/>
          <a:p>
            <a:pPr algn="r" indent="0" marL="0">
              <a:buNone/>
            </a:pPr>
            <a:r>
              <a:rPr lang="en-US" sz="1200" dirty="0">
                <a:solidFill>
                  <a:schemeClr val="accent1"/>
                </a:solidFill>
              </a:rPr>
              <a:t>docs.tinyfish.ai</a:t>
            </a:r>
            <a:endParaRPr lang="en-US" sz="1200" dirty="0"/>
          </a:p>
        </p:txBody>
      </p:sp>
      <p:sp>
        <p:nvSpPr>
          <p:cNvPr id="23" name="Reference card 6"/>
          <p:cNvSpPr/>
          <p:nvPr/>
        </p:nvSpPr>
        <p:spPr>
          <a:xfrm>
            <a:off x="548640" y="5303520"/>
            <a:ext cx="11064240" cy="694944"/>
          </a:xfrm>
          <a:prstGeom prst="roundRect">
            <a:avLst>
              <a:gd name="adj" fmla="val 15789"/>
            </a:avLst>
          </a:prstGeom>
          <a:solidFill>
            <a:schemeClr val="bg2"/>
          </a:solidFill>
          <a:ln w="12700">
            <a:solidFill>
              <a:schemeClr val="bg2"/>
            </a:solidFill>
            <a:prstDash val="solid"/>
          </a:ln>
        </p:spPr>
      </p:sp>
      <p:sp>
        <p:nvSpPr>
          <p:cNvPr id="24" name="Reference title 6"/>
          <p:cNvSpPr txBox="1"/>
          <p:nvPr/>
        </p:nvSpPr>
        <p:spPr>
          <a:xfrm>
            <a:off x="777240" y="5376672"/>
            <a:ext cx="6675120" cy="292608"/>
          </a:xfrm>
          <a:prstGeom prst="rect">
            <a:avLst/>
          </a:prstGeom>
          <a:noFill/>
          <a:ln/>
        </p:spPr>
        <p:txBody>
          <a:bodyPr wrap="square" lIns="0" tIns="0" rIns="0" bIns="0" rtlCol="0" anchor="t"/>
          <a:lstStyle/>
          <a:p>
            <a:pPr indent="0" marL="0">
              <a:buNone/>
            </a:pPr>
            <a:r>
              <a:rPr lang="en-US" sz="1400" b="1" dirty="0">
                <a:solidFill>
                  <a:schemeClr val="tx2"/>
                </a:solidFill>
              </a:rPr>
              <a:t>PM-AJAY skill development programmes; Skill India Digital (NSQF)</a:t>
            </a:r>
            <a:endParaRPr lang="en-US" sz="1400" dirty="0"/>
          </a:p>
        </p:txBody>
      </p:sp>
      <p:sp>
        <p:nvSpPr>
          <p:cNvPr id="25" name="Reference use 6"/>
          <p:cNvSpPr txBox="1"/>
          <p:nvPr/>
        </p:nvSpPr>
        <p:spPr>
          <a:xfrm>
            <a:off x="777240" y="5669280"/>
            <a:ext cx="6675120" cy="274320"/>
          </a:xfrm>
          <a:prstGeom prst="rect">
            <a:avLst/>
          </a:prstGeom>
          <a:noFill/>
          <a:ln/>
        </p:spPr>
        <p:txBody>
          <a:bodyPr wrap="square" lIns="0" tIns="0" rIns="0" bIns="0" rtlCol="0" anchor="t"/>
          <a:lstStyle/>
          <a:p>
            <a:pPr indent="0" marL="0">
              <a:buNone/>
            </a:pPr>
            <a:r>
              <a:rPr lang="en-US" sz="1200" dirty="0">
                <a:solidFill>
                  <a:schemeClr val="tx1"/>
                </a:solidFill>
              </a:rPr>
              <a:t>Scheme context and NSQF-aligned courses</a:t>
            </a:r>
            <a:endParaRPr lang="en-US" sz="1200" dirty="0"/>
          </a:p>
        </p:txBody>
      </p:sp>
      <p:sp>
        <p:nvSpPr>
          <p:cNvPr id="26" name="Reference url 6"/>
          <p:cNvSpPr txBox="1"/>
          <p:nvPr/>
        </p:nvSpPr>
        <p:spPr>
          <a:xfrm>
            <a:off x="7680960" y="5303520"/>
            <a:ext cx="3749040" cy="694944"/>
          </a:xfrm>
          <a:prstGeom prst="rect">
            <a:avLst/>
          </a:prstGeom>
          <a:noFill/>
          <a:ln/>
        </p:spPr>
        <p:txBody>
          <a:bodyPr wrap="square" lIns="0" tIns="0" rIns="0" bIns="0" rtlCol="0" anchor="ctr"/>
          <a:lstStyle/>
          <a:p>
            <a:pPr algn="r" indent="0" marL="0">
              <a:buNone/>
            </a:pPr>
            <a:r>
              <a:rPr lang="en-US" sz="1200" dirty="0">
                <a:solidFill>
                  <a:schemeClr val="accent1"/>
                </a:solidFill>
              </a:rPr>
              <a:t>pmajay.dosje.gov.in  |  dgt.skillindiadigital.gov.in</a:t>
            </a:r>
            <a:endParaRPr lang="en-US" sz="12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C8F"/>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Margdarshan">
  <a:themeElements>
    <a:clrScheme name="Margdarshan">
      <a:dk1>
        <a:srgbClr val="14212B"/>
      </a:dk1>
      <a:lt1>
        <a:srgbClr val="FFFFFF"/>
      </a:lt1>
      <a:dk2>
        <a:srgbClr val="0B3C49"/>
      </a:dk2>
      <a:lt2>
        <a:srgbClr val="EAF2F4"/>
      </a:lt2>
      <a:accent1>
        <a:srgbClr val="0E7C86"/>
      </a:accent1>
      <a:accent2>
        <a:srgbClr val="F4A300"/>
      </a:accent2>
      <a:accent3>
        <a:srgbClr val="2E7D32"/>
      </a:accent3>
      <a:accent4>
        <a:srgbClr val="C0392B"/>
      </a:accent4>
      <a:accent5>
        <a:srgbClr val="5B6C8F"/>
      </a:accent5>
      <a:accent6>
        <a:srgbClr val="8FB8BE"/>
      </a:accent6>
      <a:hlink>
        <a:srgbClr val="0E7C86"/>
      </a:hlink>
      <a:folHlink>
        <a:srgbClr val="5B6C8F"/>
      </a:folHlink>
    </a:clrScheme>
    <a:fontScheme name="Margdarsh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Margdarshan AI - Kritical Hacks 2026</dc:title>
  <dc:subject>PptxGenJS Presentation</dc:subject>
  <dc:creator>PptxGenJS</dc:creator>
  <cp:lastModifiedBy>PptxGenJS</cp:lastModifiedBy>
  <cp:revision>1</cp:revision>
  <dcterms:created xsi:type="dcterms:W3CDTF">2026-10-22T07:49:13Z</dcterms:created>
  <dcterms:modified xsi:type="dcterms:W3CDTF">2026-10-22T07:49:13Z</dcterms:modified>
</cp:coreProperties>
</file>